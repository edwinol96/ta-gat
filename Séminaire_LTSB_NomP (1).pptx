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 bookmarkIdSeed="3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81" r:id="rId4"/>
    <p:sldId id="323" r:id="rId5"/>
    <p:sldId id="313" r:id="rId6"/>
    <p:sldId id="318" r:id="rId7"/>
    <p:sldId id="324" r:id="rId8"/>
    <p:sldId id="322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hYHivA6LISohVAVHa9jX/mZuYzy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illot, Didier" initials="HD" lastIdx="14" clrIdx="0">
    <p:extLst>
      <p:ext uri="{19B8F6BF-5375-455C-9EA6-DF929625EA0E}">
        <p15:presenceInfo xmlns:p15="http://schemas.microsoft.com/office/powerpoint/2012/main" userId="S-1-5-21-1687880748-1508930569-720635935-3907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3B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5919F8-48A0-B6CE-5514-76D4E7DB2B22}" v="378" dt="2026-01-27T18:45:34.5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Style moyen 3 - 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4076" autoAdjust="0"/>
  </p:normalViewPr>
  <p:slideViewPr>
    <p:cSldViewPr snapToGrid="0">
      <p:cViewPr>
        <p:scale>
          <a:sx n="60" d="100"/>
          <a:sy n="60" d="100"/>
        </p:scale>
        <p:origin x="1444" y="2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28" Type="http://customschemas.google.com/relationships/presentationmetadata" Target="metadata"/><Relationship Id="rId10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CA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9" name="Google Shape;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9" name="Google Shape;5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/>
          </a:p>
        </p:txBody>
      </p:sp>
      <p:sp>
        <p:nvSpPr>
          <p:cNvPr id="60" name="Google Shape;60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CA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9" name="Google Shape;5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/>
          </a:p>
        </p:txBody>
      </p:sp>
      <p:sp>
        <p:nvSpPr>
          <p:cNvPr id="60" name="Google Shape;60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CA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5907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EFE5EC92-BD98-058E-A48E-F1C78BDEA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:notes">
            <a:extLst>
              <a:ext uri="{FF2B5EF4-FFF2-40B4-BE49-F238E27FC236}">
                <a16:creationId xmlns:a16="http://schemas.microsoft.com/office/drawing/2014/main" id="{557FBFA3-30EE-EDA5-CF24-1C47AF1511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9" name="Google Shape;59;p15:notes">
            <a:extLst>
              <a:ext uri="{FF2B5EF4-FFF2-40B4-BE49-F238E27FC236}">
                <a16:creationId xmlns:a16="http://schemas.microsoft.com/office/drawing/2014/main" id="{01328572-91EE-D6E5-0384-F52DEDE3AE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/>
          </a:p>
        </p:txBody>
      </p:sp>
      <p:sp>
        <p:nvSpPr>
          <p:cNvPr id="60" name="Google Shape;60;p15:notes">
            <a:extLst>
              <a:ext uri="{FF2B5EF4-FFF2-40B4-BE49-F238E27FC236}">
                <a16:creationId xmlns:a16="http://schemas.microsoft.com/office/drawing/2014/main" id="{3342C1F6-B85B-CEDC-E92A-09B6BC0C243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CA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6486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5A0DCFC1-54B2-9902-751A-47829C3D3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:notes">
            <a:extLst>
              <a:ext uri="{FF2B5EF4-FFF2-40B4-BE49-F238E27FC236}">
                <a16:creationId xmlns:a16="http://schemas.microsoft.com/office/drawing/2014/main" id="{850D5EA6-F259-9D20-F81F-A63A075323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9" name="Google Shape;59;p15:notes">
            <a:extLst>
              <a:ext uri="{FF2B5EF4-FFF2-40B4-BE49-F238E27FC236}">
                <a16:creationId xmlns:a16="http://schemas.microsoft.com/office/drawing/2014/main" id="{0104C3CC-469A-0105-2311-975DDFCAAD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/>
          </a:p>
        </p:txBody>
      </p:sp>
      <p:sp>
        <p:nvSpPr>
          <p:cNvPr id="60" name="Google Shape;60;p15:notes">
            <a:extLst>
              <a:ext uri="{FF2B5EF4-FFF2-40B4-BE49-F238E27FC236}">
                <a16:creationId xmlns:a16="http://schemas.microsoft.com/office/drawing/2014/main" id="{D9449F68-94B3-FCB5-D3C2-7A09C9AA6E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CA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86493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EB70AEDD-9380-DE15-5E94-27A20D74F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:notes">
            <a:extLst>
              <a:ext uri="{FF2B5EF4-FFF2-40B4-BE49-F238E27FC236}">
                <a16:creationId xmlns:a16="http://schemas.microsoft.com/office/drawing/2014/main" id="{3B62DA2E-CB13-2757-8F8D-FA044AE1BB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9" name="Google Shape;59;p15:notes">
            <a:extLst>
              <a:ext uri="{FF2B5EF4-FFF2-40B4-BE49-F238E27FC236}">
                <a16:creationId xmlns:a16="http://schemas.microsoft.com/office/drawing/2014/main" id="{10DBDCC4-D4FA-E06C-5E80-8B731ACCC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/>
          </a:p>
        </p:txBody>
      </p:sp>
      <p:sp>
        <p:nvSpPr>
          <p:cNvPr id="60" name="Google Shape;60;p15:notes">
            <a:extLst>
              <a:ext uri="{FF2B5EF4-FFF2-40B4-BE49-F238E27FC236}">
                <a16:creationId xmlns:a16="http://schemas.microsoft.com/office/drawing/2014/main" id="{0A136621-9450-574D-CF6E-2148C3125A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CA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3391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75CA89B2-86EA-191F-FFEC-033BDB356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:notes">
            <a:extLst>
              <a:ext uri="{FF2B5EF4-FFF2-40B4-BE49-F238E27FC236}">
                <a16:creationId xmlns:a16="http://schemas.microsoft.com/office/drawing/2014/main" id="{23DD8449-F46B-6C8E-205B-BCF54C009C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9" name="Google Shape;59;p15:notes">
            <a:extLst>
              <a:ext uri="{FF2B5EF4-FFF2-40B4-BE49-F238E27FC236}">
                <a16:creationId xmlns:a16="http://schemas.microsoft.com/office/drawing/2014/main" id="{984FE815-5DED-BE4D-D558-C175282BB2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dirty="0"/>
          </a:p>
        </p:txBody>
      </p:sp>
      <p:sp>
        <p:nvSpPr>
          <p:cNvPr id="60" name="Google Shape;60;p15:notes">
            <a:extLst>
              <a:ext uri="{FF2B5EF4-FFF2-40B4-BE49-F238E27FC236}">
                <a16:creationId xmlns:a16="http://schemas.microsoft.com/office/drawing/2014/main" id="{984A5C0B-AD0A-7BF3-7C95-C77E194012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CA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63388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2152C0B8-39E4-6176-431D-AEA0AB21D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:notes">
            <a:extLst>
              <a:ext uri="{FF2B5EF4-FFF2-40B4-BE49-F238E27FC236}">
                <a16:creationId xmlns:a16="http://schemas.microsoft.com/office/drawing/2014/main" id="{10C47758-2479-0279-36C0-A5DDBBA24B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9" name="Google Shape;59;p15:notes">
            <a:extLst>
              <a:ext uri="{FF2B5EF4-FFF2-40B4-BE49-F238E27FC236}">
                <a16:creationId xmlns:a16="http://schemas.microsoft.com/office/drawing/2014/main" id="{8CF87E3E-6BCD-7585-756E-3428C2850B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/>
          </a:p>
        </p:txBody>
      </p:sp>
      <p:sp>
        <p:nvSpPr>
          <p:cNvPr id="60" name="Google Shape;60;p15:notes">
            <a:extLst>
              <a:ext uri="{FF2B5EF4-FFF2-40B4-BE49-F238E27FC236}">
                <a16:creationId xmlns:a16="http://schemas.microsoft.com/office/drawing/2014/main" id="{5A31CEA0-631A-0DA3-3772-008D4BC21F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CA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6474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"/>
          <p:cNvSpPr>
            <a:spLocks noGrp="1"/>
          </p:cNvSpPr>
          <p:nvPr>
            <p:ph type="pic" idx="2"/>
          </p:nvPr>
        </p:nvSpPr>
        <p:spPr>
          <a:xfrm>
            <a:off x="597050" y="0"/>
            <a:ext cx="3430665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4266176" y="342900"/>
            <a:ext cx="4290376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body" idx="1"/>
          </p:nvPr>
        </p:nvSpPr>
        <p:spPr>
          <a:xfrm>
            <a:off x="4266176" y="1543050"/>
            <a:ext cx="4290376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11"/>
          <p:cNvSpPr txBox="1"/>
          <p:nvPr/>
        </p:nvSpPr>
        <p:spPr>
          <a:xfrm>
            <a:off x="180162" y="4805756"/>
            <a:ext cx="280476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>
            <a:spLocks noGrp="1"/>
          </p:cNvSpPr>
          <p:nvPr>
            <p:ph type="pic" idx="2"/>
          </p:nvPr>
        </p:nvSpPr>
        <p:spPr>
          <a:xfrm>
            <a:off x="4849584" y="255814"/>
            <a:ext cx="2068286" cy="488768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12"/>
          <p:cNvSpPr>
            <a:spLocks noGrp="1"/>
          </p:cNvSpPr>
          <p:nvPr>
            <p:ph type="pic" idx="3"/>
          </p:nvPr>
        </p:nvSpPr>
        <p:spPr>
          <a:xfrm>
            <a:off x="7075714" y="0"/>
            <a:ext cx="2068286" cy="488768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629841" y="828845"/>
            <a:ext cx="3708243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body" idx="1"/>
          </p:nvPr>
        </p:nvSpPr>
        <p:spPr>
          <a:xfrm>
            <a:off x="629841" y="2028995"/>
            <a:ext cx="3708243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12"/>
          <p:cNvSpPr txBox="1"/>
          <p:nvPr/>
        </p:nvSpPr>
        <p:spPr>
          <a:xfrm>
            <a:off x="180162" y="4867120"/>
            <a:ext cx="198581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fr-CA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311331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title"/>
          </p:nvPr>
        </p:nvSpPr>
        <p:spPr>
          <a:xfrm>
            <a:off x="677688" y="3113315"/>
            <a:ext cx="4290376" cy="4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body" idx="1"/>
          </p:nvPr>
        </p:nvSpPr>
        <p:spPr>
          <a:xfrm>
            <a:off x="677687" y="3714155"/>
            <a:ext cx="7392425" cy="127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13"/>
          <p:cNvSpPr txBox="1"/>
          <p:nvPr/>
        </p:nvSpPr>
        <p:spPr>
          <a:xfrm>
            <a:off x="180162" y="4867120"/>
            <a:ext cx="198581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fr-CA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Slide">
  <p:cSld name="12_Title Slid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>
            <a:spLocks noGrp="1"/>
          </p:cNvSpPr>
          <p:nvPr>
            <p:ph type="pic" idx="2"/>
          </p:nvPr>
        </p:nvSpPr>
        <p:spPr>
          <a:xfrm>
            <a:off x="0" y="2571751"/>
            <a:ext cx="9144000" cy="257174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title"/>
          </p:nvPr>
        </p:nvSpPr>
        <p:spPr>
          <a:xfrm>
            <a:off x="677688" y="413382"/>
            <a:ext cx="4290376" cy="4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body" idx="1"/>
          </p:nvPr>
        </p:nvSpPr>
        <p:spPr>
          <a:xfrm>
            <a:off x="677687" y="1014222"/>
            <a:ext cx="7392425" cy="127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14"/>
          <p:cNvSpPr txBox="1"/>
          <p:nvPr/>
        </p:nvSpPr>
        <p:spPr>
          <a:xfrm>
            <a:off x="180162" y="4867120"/>
            <a:ext cx="198581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fr-CA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Slide">
  <p:cSld name="13_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0"/>
          <p:cNvSpPr txBox="1"/>
          <p:nvPr/>
        </p:nvSpPr>
        <p:spPr>
          <a:xfrm>
            <a:off x="180163" y="4867120"/>
            <a:ext cx="198581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fr-CA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t>‹#›</a:t>
            </a:fld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902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/>
          <p:nvPr/>
        </p:nvSpPr>
        <p:spPr>
          <a:xfrm rot="10800000" flipH="1">
            <a:off x="79872" y="4677434"/>
            <a:ext cx="414173" cy="381900"/>
          </a:xfrm>
          <a:prstGeom prst="halfFrame">
            <a:avLst>
              <a:gd name="adj1" fmla="val 12280"/>
              <a:gd name="adj2" fmla="val 12280"/>
            </a:avLst>
          </a:prstGeom>
          <a:solidFill>
            <a:srgbClr val="DD3B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01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9"/>
          <p:cNvSpPr/>
          <p:nvPr/>
        </p:nvSpPr>
        <p:spPr>
          <a:xfrm flipH="1">
            <a:off x="8646842" y="80098"/>
            <a:ext cx="414173" cy="381900"/>
          </a:xfrm>
          <a:prstGeom prst="halfFrame">
            <a:avLst>
              <a:gd name="adj1" fmla="val 12280"/>
              <a:gd name="adj2" fmla="val 12280"/>
            </a:avLst>
          </a:prstGeom>
          <a:solidFill>
            <a:srgbClr val="DD3B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01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36478" y="4549514"/>
            <a:ext cx="508587" cy="5043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5.jp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" r="2"/>
          <a:stretch/>
        </p:blipFill>
        <p:spPr>
          <a:xfrm>
            <a:off x="836802" y="0"/>
            <a:ext cx="8307198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pic>
      <p:sp>
        <p:nvSpPr>
          <p:cNvPr id="42" name="Google Shape;42;p1"/>
          <p:cNvSpPr/>
          <p:nvPr/>
        </p:nvSpPr>
        <p:spPr>
          <a:xfrm flipH="1">
            <a:off x="3543748" y="2322576"/>
            <a:ext cx="5600252" cy="2820924"/>
          </a:xfrm>
          <a:prstGeom prst="rtTriangle">
            <a:avLst/>
          </a:prstGeom>
          <a:solidFill>
            <a:srgbClr val="0C0C0C">
              <a:alpha val="6901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013"/>
            </a:pPr>
            <a:endParaRPr sz="1013">
              <a:solidFill>
                <a:schemeClr val="lt1"/>
              </a:solidFill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0" y="0"/>
            <a:ext cx="6826541" cy="5149792"/>
          </a:xfrm>
          <a:custGeom>
            <a:avLst/>
            <a:gdLst/>
            <a:ahLst/>
            <a:cxnLst/>
            <a:rect l="l" t="t" r="r" b="b"/>
            <a:pathLst>
              <a:path w="7813755" h="6858000" extrusionOk="0">
                <a:moveTo>
                  <a:pt x="0" y="0"/>
                </a:moveTo>
                <a:lnTo>
                  <a:pt x="973535" y="7620"/>
                </a:lnTo>
                <a:lnTo>
                  <a:pt x="781375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3B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013"/>
            </a:pPr>
            <a:endParaRPr sz="1013">
              <a:solidFill>
                <a:schemeClr val="lt1"/>
              </a:solidFill>
            </a:endParaRPr>
          </a:p>
        </p:txBody>
      </p:sp>
      <p:pic>
        <p:nvPicPr>
          <p:cNvPr id="44" name="Google Shape;4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10176" y="3834519"/>
            <a:ext cx="2046956" cy="134355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"/>
          <p:cNvSpPr txBox="1"/>
          <p:nvPr/>
        </p:nvSpPr>
        <p:spPr>
          <a:xfrm>
            <a:off x="132033" y="1716209"/>
            <a:ext cx="7131796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fr-CA" sz="2000" b="1" dirty="0">
                <a:solidFill>
                  <a:schemeClr val="lt1"/>
                </a:solidFill>
                <a:latin typeface="Calibri"/>
              </a:rPr>
              <a:t>Graph Attention Networks for High Fidelity Thermal field reconstruction from Sparse sensors.</a:t>
            </a:r>
            <a:endParaRPr sz="2000" b="1" dirty="0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219929" y="2955510"/>
            <a:ext cx="4844289" cy="1539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fr-CA" sz="1500" b="1" dirty="0">
                <a:solidFill>
                  <a:schemeClr val="lt1"/>
                </a:solidFill>
              </a:rPr>
              <a:t>Edwin Oluoch Awino</a:t>
            </a:r>
            <a:endParaRPr lang="fr-FR" dirty="0">
              <a:solidFill>
                <a:schemeClr val="lt1"/>
              </a:solidFill>
            </a:endParaRPr>
          </a:p>
          <a:p>
            <a:pPr>
              <a:lnSpc>
                <a:spcPct val="90000"/>
              </a:lnSpc>
            </a:pPr>
            <a:endParaRPr lang="fr-CA" sz="1200" dirty="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>
              <a:lnSpc>
                <a:spcPct val="90000"/>
              </a:lnSpc>
            </a:pPr>
            <a:r>
              <a:rPr lang="fr-CA" b="1" dirty="0">
                <a:solidFill>
                  <a:schemeClr val="bg1"/>
                </a:solidFill>
              </a:rPr>
              <a:t>PhD Student in Construction Engineering</a:t>
            </a:r>
          </a:p>
          <a:p>
            <a:pPr>
              <a:lnSpc>
                <a:spcPct val="90000"/>
              </a:lnSpc>
            </a:pPr>
            <a:endParaRPr lang="fr-CA" sz="2000" dirty="0">
              <a:solidFill>
                <a:schemeClr val="lt1"/>
              </a:solidFill>
            </a:endParaRPr>
          </a:p>
          <a:p>
            <a:pPr>
              <a:lnSpc>
                <a:spcPct val="90000"/>
              </a:lnSpc>
            </a:pPr>
            <a:r>
              <a:rPr lang="fr-CA" dirty="0">
                <a:solidFill>
                  <a:schemeClr val="lt1"/>
                </a:solidFill>
              </a:rPr>
              <a:t>Codirection Prof. </a:t>
            </a:r>
            <a:r>
              <a:rPr lang="en-US" dirty="0">
                <a:solidFill>
                  <a:schemeClr val="bg1"/>
                </a:solidFill>
              </a:rPr>
              <a:t>Merabtine </a:t>
            </a:r>
            <a:r>
              <a:rPr lang="fr-CA" dirty="0">
                <a:solidFill>
                  <a:schemeClr val="lt1"/>
                </a:solidFill>
              </a:rPr>
              <a:t>&amp; Prof. Snaiki</a:t>
            </a:r>
          </a:p>
          <a:p>
            <a:pPr>
              <a:lnSpc>
                <a:spcPct val="90000"/>
              </a:lnSpc>
            </a:pPr>
            <a:r>
              <a:rPr lang="fr-CA" dirty="0">
                <a:solidFill>
                  <a:schemeClr val="lt1"/>
                </a:solidFill>
              </a:rPr>
              <a:t>30 January, 2026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47" name="Google Shape;4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3088" y="4506294"/>
            <a:ext cx="908566" cy="3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207818" y="316596"/>
            <a:ext cx="7969104" cy="44680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algn="ctr"/>
            <a:r>
              <a:rPr lang="fr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</a:t>
            </a:r>
            <a:br>
              <a:rPr lang="fr-CA" sz="2000" dirty="0"/>
            </a:br>
            <a:r>
              <a:rPr lang="fr-CA" sz="2000" dirty="0"/>
              <a:t>	</a:t>
            </a:r>
            <a:endParaRPr sz="2000" dirty="0"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547576" y="763404"/>
            <a:ext cx="7969103" cy="43800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571494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55% to 56% of the world's population currently lives in urban areas - projected to rise to 68%–70% by 2050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71494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emphasizes the importance of climate adaptation strategies in urban development.</a:t>
            </a:r>
          </a:p>
          <a:p>
            <a:pPr marL="571494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Urban Heat Island (UHI) effect-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Urban areas experience higher temperature than neighboring rural area.</a:t>
            </a:r>
          </a:p>
          <a:p>
            <a:pPr marL="571494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model UHI we need temperature fields</a:t>
            </a:r>
          </a:p>
          <a:p>
            <a:pPr marL="571494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Numerical models?- Costly and time consuming</a:t>
            </a:r>
          </a:p>
          <a:p>
            <a:pPr marL="571494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Traditional interpolation e.g. 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Krigging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 Rely on Euclidean distance.</a:t>
            </a:r>
          </a:p>
          <a:p>
            <a:pPr marL="571494" indent="-342900" algn="ctr">
              <a:buFont typeface="Wingdings" panose="05000000000000000000" pitchFamily="2" charset="2"/>
              <a:buChar char="Ø"/>
            </a:pPr>
            <a:r>
              <a:rPr lang="en-US" sz="2000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Questions</a:t>
            </a:r>
            <a:endParaRPr lang="en-US" sz="20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494" indent="-34290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what extent can GNN model Temperature field from sparse sensors and remote sensing?</a:t>
            </a:r>
          </a:p>
          <a:p>
            <a:pPr marL="571494" indent="-34290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can temperature field derived from GNN be useful for UHI mapping and improved Urban planning.</a:t>
            </a:r>
            <a:endParaRPr lang="fr-CA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594" indent="0"/>
            <a:endParaRPr lang="fr-CA" sz="1800" dirty="0"/>
          </a:p>
        </p:txBody>
      </p:sp>
      <p:pic>
        <p:nvPicPr>
          <p:cNvPr id="65" name="Google Shape;6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4168" y="120126"/>
            <a:ext cx="908399" cy="39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Google Shape;63;p15">
            <a:extLst>
              <a:ext uri="{FF2B5EF4-FFF2-40B4-BE49-F238E27FC236}">
                <a16:creationId xmlns:a16="http://schemas.microsoft.com/office/drawing/2014/main" id="{E5B0A1E9-F73C-42B9-A125-58F414B5A78D}"/>
              </a:ext>
            </a:extLst>
          </p:cNvPr>
          <p:cNvCxnSpPr>
            <a:cxnSpLocks/>
          </p:cNvCxnSpPr>
          <p:nvPr/>
        </p:nvCxnSpPr>
        <p:spPr>
          <a:xfrm>
            <a:off x="207818" y="763405"/>
            <a:ext cx="8764749" cy="0"/>
          </a:xfrm>
          <a:prstGeom prst="straightConnector1">
            <a:avLst/>
          </a:prstGeom>
          <a:noFill/>
          <a:ln w="38100" cap="flat" cmpd="sng">
            <a:solidFill>
              <a:srgbClr val="DD3B4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207818" y="316596"/>
            <a:ext cx="7969104" cy="44680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algn="ctr"/>
            <a:r>
              <a:rPr lang="fr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Objectives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361507" y="881562"/>
            <a:ext cx="3529773" cy="394534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88265" indent="0">
              <a:spcBef>
                <a:spcPts val="0"/>
              </a:spcBef>
            </a:pPr>
            <a:endParaRPr lang="fr-FR" sz="1600" dirty="0">
              <a:solidFill>
                <a:schemeClr val="tx1"/>
              </a:solidFill>
              <a:latin typeface="Calibri"/>
            </a:endParaRPr>
          </a:p>
          <a:p>
            <a:pPr marL="431165" indent="-342900">
              <a:spcBef>
                <a:spcPts val="0"/>
              </a:spcBef>
              <a:buAutoNum type="arabicPeriod"/>
            </a:pPr>
            <a:r>
              <a:rPr lang="en-CA" sz="1800" dirty="0">
                <a:solidFill>
                  <a:schemeClr val="tx1"/>
                </a:solidFill>
                <a:latin typeface="Calibri"/>
                <a:cs typeface="Times New Roman"/>
              </a:rPr>
              <a:t>To develop GNN framework that produces high-resolution Air temperature fields </a:t>
            </a:r>
            <a:r>
              <a:rPr lang="en-CA" sz="1800" dirty="0">
                <a:solidFill>
                  <a:schemeClr val="tx1"/>
                </a:solidFill>
                <a:highlight>
                  <a:srgbClr val="FFFFFF"/>
                </a:highlight>
                <a:latin typeface="Calibri"/>
                <a:cs typeface="Times New Roman"/>
              </a:rPr>
              <a:t>from sparse observations and remote sensing.</a:t>
            </a:r>
            <a:endParaRPr lang="fr-CA" sz="1800" dirty="0">
              <a:solidFill>
                <a:schemeClr val="tx1"/>
              </a:solidFill>
              <a:latin typeface="Calibri"/>
            </a:endParaRPr>
          </a:p>
          <a:p>
            <a:pPr marL="431165" indent="-342900">
              <a:spcBef>
                <a:spcPts val="0"/>
              </a:spcBef>
              <a:buAutoNum type="arabicPeriod"/>
            </a:pPr>
            <a:endParaRPr lang="en-CA" sz="1800" dirty="0">
              <a:solidFill>
                <a:schemeClr val="tx1"/>
              </a:solidFill>
              <a:highlight>
                <a:srgbClr val="FFFFFF"/>
              </a:highlight>
              <a:latin typeface="Calibri"/>
              <a:cs typeface="Times New Roman"/>
            </a:endParaRPr>
          </a:p>
          <a:p>
            <a:pPr marL="374015" indent="-285750">
              <a:spcBef>
                <a:spcPts val="0"/>
              </a:spcBef>
              <a:buAutoNum type="arabicPeriod"/>
            </a:pPr>
            <a:r>
              <a:rPr lang="fr-CA" sz="1800" dirty="0">
                <a:solidFill>
                  <a:schemeClr val="tx1"/>
                </a:solidFill>
                <a:latin typeface="Calibri"/>
              </a:rPr>
              <a:t> To </a:t>
            </a:r>
            <a:r>
              <a:rPr lang="fr-CA" sz="1800" dirty="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cs typeface="Times New Roman"/>
              </a:rPr>
              <a:t>build</a:t>
            </a:r>
            <a:r>
              <a:rPr lang="fr-CA" sz="1800" dirty="0">
                <a:solidFill>
                  <a:schemeClr val="tx1"/>
                </a:solidFill>
                <a:highlight>
                  <a:srgbClr val="FFFFFF"/>
                </a:highlight>
                <a:latin typeface="Calibri"/>
                <a:cs typeface="Times New Roman"/>
              </a:rPr>
              <a:t> a pipeline that downscales and bias-corrects </a:t>
            </a:r>
            <a:r>
              <a:rPr lang="fr-CA" sz="1800" dirty="0">
                <a:solidFill>
                  <a:schemeClr val="tx1"/>
                </a:solidFill>
                <a:latin typeface="Calibri"/>
                <a:cs typeface="Times New Roman"/>
              </a:rPr>
              <a:t>CMIP6</a:t>
            </a:r>
            <a:r>
              <a:rPr lang="fr-CA" sz="1800" dirty="0">
                <a:solidFill>
                  <a:schemeClr val="tx1"/>
                </a:solidFill>
                <a:highlight>
                  <a:srgbClr val="FFFFFF"/>
                </a:highlight>
                <a:latin typeface="Calibri"/>
                <a:cs typeface="Times New Roman"/>
              </a:rPr>
              <a:t> scenarios to produce ensemble future UHI realizations.</a:t>
            </a:r>
          </a:p>
          <a:p>
            <a:pPr marL="374015" indent="-285750">
              <a:spcBef>
                <a:spcPts val="0"/>
              </a:spcBef>
              <a:buAutoNum type="arabicPeriod"/>
            </a:pPr>
            <a:endParaRPr lang="fr-CA" sz="1800" dirty="0">
              <a:solidFill>
                <a:schemeClr val="tx1"/>
              </a:solidFill>
              <a:highlight>
                <a:srgbClr val="FFFFFF"/>
              </a:highlight>
              <a:latin typeface="Calibri"/>
              <a:cs typeface="Times New Roman"/>
            </a:endParaRPr>
          </a:p>
          <a:p>
            <a:pPr marL="374015" indent="-285750">
              <a:spcBef>
                <a:spcPts val="0"/>
              </a:spcBef>
              <a:buAutoNum type="arabicPeriod"/>
            </a:pPr>
            <a:r>
              <a:rPr lang="en-CA" sz="1800" dirty="0">
                <a:solidFill>
                  <a:schemeClr val="tx1"/>
                </a:solidFill>
                <a:highlight>
                  <a:srgbClr val="FFFFFF"/>
                </a:highlight>
                <a:latin typeface="Calibri"/>
                <a:cs typeface="Times New Roman"/>
              </a:rPr>
              <a:t>To use the trained surrogate to discover spatially targeted, budget-aware mitigation policies</a:t>
            </a:r>
            <a:endParaRPr lang="fr-CA" sz="1800" dirty="0">
              <a:solidFill>
                <a:schemeClr val="tx1"/>
              </a:solidFill>
              <a:highlight>
                <a:srgbClr val="FFFFFF"/>
              </a:highlight>
              <a:latin typeface="Calibri"/>
              <a:cs typeface="Times New Roman"/>
            </a:endParaRPr>
          </a:p>
          <a:p>
            <a:pPr marL="374015" indent="-285750">
              <a:spcBef>
                <a:spcPts val="0"/>
              </a:spcBef>
              <a:buAutoNum type="arabicPeriod"/>
            </a:pPr>
            <a:endParaRPr lang="fr-CA" sz="2000" dirty="0">
              <a:latin typeface="Calibri"/>
            </a:endParaRPr>
          </a:p>
          <a:p>
            <a:pPr marL="285115" indent="-196215">
              <a:spcBef>
                <a:spcPts val="0"/>
              </a:spcBef>
            </a:pPr>
            <a:endParaRPr lang="fr-CA" sz="2000" dirty="0">
              <a:latin typeface="Calibri"/>
            </a:endParaRPr>
          </a:p>
          <a:p>
            <a:pPr marL="285115" indent="-196215">
              <a:spcBef>
                <a:spcPts val="0"/>
              </a:spcBef>
            </a:pPr>
            <a:endParaRPr lang="fr-CA" sz="2000" dirty="0">
              <a:latin typeface="Calibri"/>
            </a:endParaRPr>
          </a:p>
          <a:p>
            <a:pPr marL="285115" indent="-196215">
              <a:spcBef>
                <a:spcPts val="0"/>
              </a:spcBef>
            </a:pPr>
            <a:endParaRPr lang="fr-CA" sz="2000" dirty="0">
              <a:latin typeface="Calibri"/>
            </a:endParaRPr>
          </a:p>
        </p:txBody>
      </p:sp>
      <p:pic>
        <p:nvPicPr>
          <p:cNvPr id="65" name="Google Shape;6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4168" y="120126"/>
            <a:ext cx="908399" cy="39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Google Shape;63;p15">
            <a:extLst>
              <a:ext uri="{FF2B5EF4-FFF2-40B4-BE49-F238E27FC236}">
                <a16:creationId xmlns:a16="http://schemas.microsoft.com/office/drawing/2014/main" id="{B1A4F637-65F8-4BEC-B594-407A34C0DBB1}"/>
              </a:ext>
            </a:extLst>
          </p:cNvPr>
          <p:cNvCxnSpPr>
            <a:cxnSpLocks/>
          </p:cNvCxnSpPr>
          <p:nvPr/>
        </p:nvCxnSpPr>
        <p:spPr>
          <a:xfrm>
            <a:off x="207818" y="763405"/>
            <a:ext cx="8764749" cy="0"/>
          </a:xfrm>
          <a:prstGeom prst="straightConnector1">
            <a:avLst/>
          </a:prstGeom>
          <a:noFill/>
          <a:ln w="38100" cap="flat" cmpd="sng">
            <a:solidFill>
              <a:srgbClr val="DD3B4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" name="Picture 2">
            <a:extLst>
              <a:ext uri="{FF2B5EF4-FFF2-40B4-BE49-F238E27FC236}">
                <a16:creationId xmlns:a16="http://schemas.microsoft.com/office/drawing/2014/main" id="{5601FD52-4032-9F7D-CD23-C27C7B32B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280" y="1284995"/>
            <a:ext cx="5252720" cy="2809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45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63AD6FB7-3C4B-32D0-F5B1-5D489D344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78F33827-88F9-8EC5-3A64-D40076C786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7818" y="316596"/>
            <a:ext cx="7969104" cy="44680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Case Study- Montreal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5" name="Google Shape;65;p15">
            <a:extLst>
              <a:ext uri="{FF2B5EF4-FFF2-40B4-BE49-F238E27FC236}">
                <a16:creationId xmlns:a16="http://schemas.microsoft.com/office/drawing/2014/main" id="{276BE36E-08A5-0C1A-D39E-F8577970413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4168" y="120126"/>
            <a:ext cx="908399" cy="39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Google Shape;63;p15">
            <a:extLst>
              <a:ext uri="{FF2B5EF4-FFF2-40B4-BE49-F238E27FC236}">
                <a16:creationId xmlns:a16="http://schemas.microsoft.com/office/drawing/2014/main" id="{ED600C73-C4CC-D26C-A9B6-90DCD657302E}"/>
              </a:ext>
            </a:extLst>
          </p:cNvPr>
          <p:cNvCxnSpPr>
            <a:cxnSpLocks/>
          </p:cNvCxnSpPr>
          <p:nvPr/>
        </p:nvCxnSpPr>
        <p:spPr>
          <a:xfrm>
            <a:off x="207818" y="763405"/>
            <a:ext cx="8764749" cy="0"/>
          </a:xfrm>
          <a:prstGeom prst="straightConnector1">
            <a:avLst/>
          </a:prstGeom>
          <a:noFill/>
          <a:ln w="38100" cap="flat" cmpd="sng">
            <a:solidFill>
              <a:srgbClr val="DD3B4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C47CE0F8-DD64-DFD5-F48E-261B8BCAC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679" y="1436248"/>
            <a:ext cx="5821680" cy="2271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406609-54C1-D682-D0D1-806E5F1BA3CF}"/>
              </a:ext>
            </a:extLst>
          </p:cNvPr>
          <p:cNvSpPr txBox="1"/>
          <p:nvPr/>
        </p:nvSpPr>
        <p:spPr>
          <a:xfrm>
            <a:off x="207818" y="959875"/>
            <a:ext cx="28198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 Sparse sensors located over a section of Montreal measuring Ta, RH and dew point.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minutes temporal resolution.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sensors in areas we are likely to experience UHI- such as Old Town Montreal.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6115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26F5C626-FA07-FE05-1868-ABB0C2846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BAC1B5A6-5FE0-E363-9976-F1EDCD854A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7818" y="316596"/>
            <a:ext cx="7969104" cy="44680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algn="ctr"/>
            <a:r>
              <a:rPr lang="fr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 Results 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95A80742-B650-4CF5-983D-39FA9F661E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7847" y="988608"/>
            <a:ext cx="8714720" cy="375351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88898" indent="0">
              <a:lnSpc>
                <a:spcPct val="150000"/>
              </a:lnSpc>
              <a:spcBef>
                <a:spcPts val="0"/>
              </a:spcBef>
            </a:pPr>
            <a:endParaRPr lang="fr-CA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5" name="Google Shape;65;p15">
            <a:extLst>
              <a:ext uri="{FF2B5EF4-FFF2-40B4-BE49-F238E27FC236}">
                <a16:creationId xmlns:a16="http://schemas.microsoft.com/office/drawing/2014/main" id="{0207EADE-4331-4796-876F-3E141558B9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4168" y="120126"/>
            <a:ext cx="908399" cy="39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Google Shape;63;p15">
            <a:extLst>
              <a:ext uri="{FF2B5EF4-FFF2-40B4-BE49-F238E27FC236}">
                <a16:creationId xmlns:a16="http://schemas.microsoft.com/office/drawing/2014/main" id="{6BE8788B-88B3-1D5B-6A86-CD34C9AB37ED}"/>
              </a:ext>
            </a:extLst>
          </p:cNvPr>
          <p:cNvCxnSpPr>
            <a:cxnSpLocks/>
          </p:cNvCxnSpPr>
          <p:nvPr/>
        </p:nvCxnSpPr>
        <p:spPr>
          <a:xfrm>
            <a:off x="207818" y="763405"/>
            <a:ext cx="8764749" cy="0"/>
          </a:xfrm>
          <a:prstGeom prst="straightConnector1">
            <a:avLst/>
          </a:prstGeom>
          <a:noFill/>
          <a:ln w="38100" cap="flat" cmpd="sng">
            <a:solidFill>
              <a:srgbClr val="DD3B4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17B25F18-6085-0755-96F2-A440E57A277C}"/>
              </a:ext>
            </a:extLst>
          </p:cNvPr>
          <p:cNvGrpSpPr/>
          <p:nvPr/>
        </p:nvGrpSpPr>
        <p:grpSpPr>
          <a:xfrm>
            <a:off x="171433" y="986297"/>
            <a:ext cx="4020937" cy="3393798"/>
            <a:chOff x="-380619" y="-48256"/>
            <a:chExt cx="9851511" cy="671586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328C3C8-69FE-D10F-044E-8CF440E47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91474" y="3238611"/>
              <a:ext cx="5029201" cy="342899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FDAC396-93BF-5127-B5CD-F6882840E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24483" y="3238613"/>
              <a:ext cx="4626238" cy="342899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6C8FA3B-8DC8-901C-C88E-20501D27D3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80619" y="-48256"/>
              <a:ext cx="5150299" cy="333512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E2FA701-8FA2-357A-278C-D3641A9B4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01623" y="-48256"/>
              <a:ext cx="4569269" cy="3286869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DA0A13-2274-2238-AB2D-2026DA9984B6}"/>
              </a:ext>
            </a:extLst>
          </p:cNvPr>
          <p:cNvGrpSpPr/>
          <p:nvPr/>
        </p:nvGrpSpPr>
        <p:grpSpPr>
          <a:xfrm>
            <a:off x="4184137" y="1010684"/>
            <a:ext cx="4334230" cy="3295277"/>
            <a:chOff x="-437280" y="-198622"/>
            <a:chExt cx="9497442" cy="700151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38B8446-6C15-AD75-A00A-14289C875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88266" y="3373892"/>
              <a:ext cx="4942703" cy="34290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B81152-CD17-4740-3862-3876FD10C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60010" y="3373892"/>
              <a:ext cx="4300152" cy="34290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58ACBB4-56C5-BF59-D3B4-CFB8682E9F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37280" y="-198622"/>
              <a:ext cx="4942703" cy="362762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8BF8CD0-C362-7C53-C4C5-C4A6D06886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60010" y="-198619"/>
              <a:ext cx="4300152" cy="3503136"/>
            </a:xfrm>
            <a:prstGeom prst="rect">
              <a:avLst/>
            </a:prstGeom>
          </p:spPr>
        </p:pic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EB13A5F-936A-1133-7DF5-F09AC0A29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708648"/>
              </p:ext>
            </p:extLst>
          </p:nvPr>
        </p:nvGraphicFramePr>
        <p:xfrm>
          <a:off x="1998921" y="4380095"/>
          <a:ext cx="5220586" cy="64000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044117">
                  <a:extLst>
                    <a:ext uri="{9D8B030D-6E8A-4147-A177-3AD203B41FA5}">
                      <a16:colId xmlns:a16="http://schemas.microsoft.com/office/drawing/2014/main" val="1131051557"/>
                    </a:ext>
                  </a:extLst>
                </a:gridCol>
                <a:gridCol w="1044117">
                  <a:extLst>
                    <a:ext uri="{9D8B030D-6E8A-4147-A177-3AD203B41FA5}">
                      <a16:colId xmlns:a16="http://schemas.microsoft.com/office/drawing/2014/main" val="2444184900"/>
                    </a:ext>
                  </a:extLst>
                </a:gridCol>
                <a:gridCol w="1044117">
                  <a:extLst>
                    <a:ext uri="{9D8B030D-6E8A-4147-A177-3AD203B41FA5}">
                      <a16:colId xmlns:a16="http://schemas.microsoft.com/office/drawing/2014/main" val="1842841532"/>
                    </a:ext>
                  </a:extLst>
                </a:gridCol>
                <a:gridCol w="982449">
                  <a:extLst>
                    <a:ext uri="{9D8B030D-6E8A-4147-A177-3AD203B41FA5}">
                      <a16:colId xmlns:a16="http://schemas.microsoft.com/office/drawing/2014/main" val="2575423802"/>
                    </a:ext>
                  </a:extLst>
                </a:gridCol>
                <a:gridCol w="1105786">
                  <a:extLst>
                    <a:ext uri="{9D8B030D-6E8A-4147-A177-3AD203B41FA5}">
                      <a16:colId xmlns:a16="http://schemas.microsoft.com/office/drawing/2014/main" val="3817002845"/>
                    </a:ext>
                  </a:extLst>
                </a:gridCol>
              </a:tblGrid>
              <a:tr h="3898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RMSE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RMSE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MAE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MAE_STD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STATIONS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76108493"/>
                  </a:ext>
                </a:extLst>
              </a:tr>
              <a:tr h="19741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0.65917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0.262113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0.493766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0.20803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5866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0550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3E5F0163-857C-E3E1-4877-FF3C3FC80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C1BDBE82-29FA-2F49-AA4F-369DFE23B2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7818" y="316596"/>
            <a:ext cx="7969104" cy="44680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algn="ctr"/>
            <a:r>
              <a:rPr lang="fr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 Results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881F44D2-F8B0-7C85-3D9F-8D0EA2937B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7818" y="988608"/>
            <a:ext cx="8764749" cy="366705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7464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fr-CA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5" name="Google Shape;65;p15">
            <a:extLst>
              <a:ext uri="{FF2B5EF4-FFF2-40B4-BE49-F238E27FC236}">
                <a16:creationId xmlns:a16="http://schemas.microsoft.com/office/drawing/2014/main" id="{BCED5EE6-AC41-994F-AB30-235DE362B95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4168" y="120126"/>
            <a:ext cx="908399" cy="39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Google Shape;63;p15">
            <a:extLst>
              <a:ext uri="{FF2B5EF4-FFF2-40B4-BE49-F238E27FC236}">
                <a16:creationId xmlns:a16="http://schemas.microsoft.com/office/drawing/2014/main" id="{E554713D-CF40-8A25-DE4C-E20C573E887E}"/>
              </a:ext>
            </a:extLst>
          </p:cNvPr>
          <p:cNvCxnSpPr>
            <a:cxnSpLocks/>
          </p:cNvCxnSpPr>
          <p:nvPr/>
        </p:nvCxnSpPr>
        <p:spPr>
          <a:xfrm>
            <a:off x="207818" y="763405"/>
            <a:ext cx="8764749" cy="0"/>
          </a:xfrm>
          <a:prstGeom prst="straightConnector1">
            <a:avLst/>
          </a:prstGeom>
          <a:noFill/>
          <a:ln w="38100" cap="flat" cmpd="sng">
            <a:solidFill>
              <a:srgbClr val="DD3B41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DE5EA1B-BCCB-9FD8-93FB-7D3FCF6795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167573"/>
              </p:ext>
            </p:extLst>
          </p:nvPr>
        </p:nvGraphicFramePr>
        <p:xfrm>
          <a:off x="207818" y="988607"/>
          <a:ext cx="8310548" cy="3667052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077637">
                  <a:extLst>
                    <a:ext uri="{9D8B030D-6E8A-4147-A177-3AD203B41FA5}">
                      <a16:colId xmlns:a16="http://schemas.microsoft.com/office/drawing/2014/main" val="2756790759"/>
                    </a:ext>
                  </a:extLst>
                </a:gridCol>
                <a:gridCol w="2077637">
                  <a:extLst>
                    <a:ext uri="{9D8B030D-6E8A-4147-A177-3AD203B41FA5}">
                      <a16:colId xmlns:a16="http://schemas.microsoft.com/office/drawing/2014/main" val="2983731036"/>
                    </a:ext>
                  </a:extLst>
                </a:gridCol>
                <a:gridCol w="2077637">
                  <a:extLst>
                    <a:ext uri="{9D8B030D-6E8A-4147-A177-3AD203B41FA5}">
                      <a16:colId xmlns:a16="http://schemas.microsoft.com/office/drawing/2014/main" val="648895141"/>
                    </a:ext>
                  </a:extLst>
                </a:gridCol>
                <a:gridCol w="2077637">
                  <a:extLst>
                    <a:ext uri="{9D8B030D-6E8A-4147-A177-3AD203B41FA5}">
                      <a16:colId xmlns:a16="http://schemas.microsoft.com/office/drawing/2014/main" val="3485220510"/>
                    </a:ext>
                  </a:extLst>
                </a:gridCol>
              </a:tblGrid>
              <a:tr h="2105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STATION_ID</a:t>
                      </a:r>
                      <a:endParaRPr lang="en-US" sz="12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RMSE</a:t>
                      </a:r>
                      <a:endParaRPr lang="en-US" sz="12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MAE</a:t>
                      </a:r>
                      <a:endParaRPr lang="en-US" sz="12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N</a:t>
                      </a:r>
                      <a:endParaRPr lang="en-US" sz="12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extLst>
                  <a:ext uri="{0D108BD9-81ED-4DB2-BD59-A6C34878D82A}">
                    <a16:rowId xmlns:a16="http://schemas.microsoft.com/office/drawing/2014/main" val="2889723841"/>
                  </a:ext>
                </a:extLst>
              </a:tr>
              <a:tr h="229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S-THC 21317937:21326446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0.694407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0.523503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8672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extLst>
                  <a:ext uri="{0D108BD9-81ED-4DB2-BD59-A6C34878D82A}">
                    <a16:rowId xmlns:a16="http://schemas.microsoft.com/office/drawing/2014/main" val="4271533553"/>
                  </a:ext>
                </a:extLst>
              </a:tr>
              <a:tr h="229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S-THC 21317938:21206238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0.934664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0.781721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8731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extLst>
                  <a:ext uri="{0D108BD9-81ED-4DB2-BD59-A6C34878D82A}">
                    <a16:rowId xmlns:a16="http://schemas.microsoft.com/office/drawing/2014/main" val="3588360608"/>
                  </a:ext>
                </a:extLst>
              </a:tr>
              <a:tr h="229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S-THC 21317939:21326342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0.62975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0.470434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8665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extLst>
                  <a:ext uri="{0D108BD9-81ED-4DB2-BD59-A6C34878D82A}">
                    <a16:rowId xmlns:a16="http://schemas.microsoft.com/office/drawing/2014/main" val="4019058445"/>
                  </a:ext>
                </a:extLst>
              </a:tr>
              <a:tr h="229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S-THC 21317940:21326448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0.683042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0.52384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8700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extLst>
                  <a:ext uri="{0D108BD9-81ED-4DB2-BD59-A6C34878D82A}">
                    <a16:rowId xmlns:a16="http://schemas.microsoft.com/office/drawing/2014/main" val="3891774184"/>
                  </a:ext>
                </a:extLst>
              </a:tr>
              <a:tr h="229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S-THC 21317941:21348257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0.531703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0.367157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8673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extLst>
                  <a:ext uri="{0D108BD9-81ED-4DB2-BD59-A6C34878D82A}">
                    <a16:rowId xmlns:a16="http://schemas.microsoft.com/office/drawing/2014/main" val="2956773030"/>
                  </a:ext>
                </a:extLst>
              </a:tr>
              <a:tr h="229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S-THC 21317942:21326340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1.204263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0.931097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8734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extLst>
                  <a:ext uri="{0D108BD9-81ED-4DB2-BD59-A6C34878D82A}">
                    <a16:rowId xmlns:a16="http://schemas.microsoft.com/office/drawing/2014/main" val="3855953617"/>
                  </a:ext>
                </a:extLst>
              </a:tr>
              <a:tr h="229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S-THC 21317943:21326444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1.265205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0.933902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8719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extLst>
                  <a:ext uri="{0D108BD9-81ED-4DB2-BD59-A6C34878D82A}">
                    <a16:rowId xmlns:a16="http://schemas.microsoft.com/office/drawing/2014/main" val="1795462157"/>
                  </a:ext>
                </a:extLst>
              </a:tr>
              <a:tr h="229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S-THC 21317947:21348259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0.537641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0.398991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8690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extLst>
                  <a:ext uri="{0D108BD9-81ED-4DB2-BD59-A6C34878D82A}">
                    <a16:rowId xmlns:a16="http://schemas.microsoft.com/office/drawing/2014/main" val="2040455295"/>
                  </a:ext>
                </a:extLst>
              </a:tr>
              <a:tr h="229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S-THC 21317948:21326445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0.653392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0.436987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8668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extLst>
                  <a:ext uri="{0D108BD9-81ED-4DB2-BD59-A6C34878D82A}">
                    <a16:rowId xmlns:a16="http://schemas.microsoft.com/office/drawing/2014/main" val="1175919977"/>
                  </a:ext>
                </a:extLst>
              </a:tr>
              <a:tr h="229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S-THC 21317949:21206231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0.501637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0.337436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8702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extLst>
                  <a:ext uri="{0D108BD9-81ED-4DB2-BD59-A6C34878D82A}">
                    <a16:rowId xmlns:a16="http://schemas.microsoft.com/office/drawing/2014/main" val="522952193"/>
                  </a:ext>
                </a:extLst>
              </a:tr>
              <a:tr h="229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S-THC 21317950:21326337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0.482117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0.376416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8706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extLst>
                  <a:ext uri="{0D108BD9-81ED-4DB2-BD59-A6C34878D82A}">
                    <a16:rowId xmlns:a16="http://schemas.microsoft.com/office/drawing/2014/main" val="3246482912"/>
                  </a:ext>
                </a:extLst>
              </a:tr>
              <a:tr h="229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S-THC 21317953:21348258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0.536051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0.401664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8653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extLst>
                  <a:ext uri="{0D108BD9-81ED-4DB2-BD59-A6C34878D82A}">
                    <a16:rowId xmlns:a16="http://schemas.microsoft.com/office/drawing/2014/main" val="1818268421"/>
                  </a:ext>
                </a:extLst>
              </a:tr>
              <a:tr h="229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S-THC 21317958:21206230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0.412219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0.302888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8702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extLst>
                  <a:ext uri="{0D108BD9-81ED-4DB2-BD59-A6C34878D82A}">
                    <a16:rowId xmlns:a16="http://schemas.microsoft.com/office/drawing/2014/main" val="3692097781"/>
                  </a:ext>
                </a:extLst>
              </a:tr>
              <a:tr h="229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S-THC 21317959:21326443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0.4304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0.319734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8674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extLst>
                  <a:ext uri="{0D108BD9-81ED-4DB2-BD59-A6C34878D82A}">
                    <a16:rowId xmlns:a16="http://schemas.microsoft.com/office/drawing/2014/main" val="539804094"/>
                  </a:ext>
                </a:extLst>
              </a:tr>
              <a:tr h="229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S-THC 21317960:21336805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0.391066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0.300716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8743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932" marR="36932" marT="18466" marB="18466" anchor="ctr"/>
                </a:tc>
                <a:extLst>
                  <a:ext uri="{0D108BD9-81ED-4DB2-BD59-A6C34878D82A}">
                    <a16:rowId xmlns:a16="http://schemas.microsoft.com/office/drawing/2014/main" val="2866074853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ED06594E-A28B-A8C9-33F0-940F30BA0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9010" y="140200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937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6D3787DE-4E96-781A-499E-CD5A356EF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010ADE79-3771-4AB6-40ED-546EB55EE9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7818" y="316596"/>
            <a:ext cx="7969104" cy="44680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algn="ctr"/>
            <a:r>
              <a:rPr lang="fr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 Results - RH 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93B691D1-3569-57AB-6B0B-9E04EB8954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7818" y="988608"/>
            <a:ext cx="8764749" cy="383829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r>
              <a:rPr lang="en-US"/>
              <a:t>rmse_mean	rmse_std	mae_mean	mae_std	stations</a:t>
            </a:r>
          </a:p>
          <a:p>
            <a:r>
              <a:rPr lang="en-US"/>
              <a:t>3.554941035	1.867964444	2.903102025	1.645808726	15</a:t>
            </a:r>
            <a:endParaRPr lang="en-US" dirty="0" err="1"/>
          </a:p>
        </p:txBody>
      </p:sp>
      <p:pic>
        <p:nvPicPr>
          <p:cNvPr id="65" name="Google Shape;65;p15">
            <a:extLst>
              <a:ext uri="{FF2B5EF4-FFF2-40B4-BE49-F238E27FC236}">
                <a16:creationId xmlns:a16="http://schemas.microsoft.com/office/drawing/2014/main" id="{A3E0A3AF-CEA7-85D2-41DE-9E4C231336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4168" y="120126"/>
            <a:ext cx="908399" cy="39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Google Shape;63;p15">
            <a:extLst>
              <a:ext uri="{FF2B5EF4-FFF2-40B4-BE49-F238E27FC236}">
                <a16:creationId xmlns:a16="http://schemas.microsoft.com/office/drawing/2014/main" id="{39043B23-A499-1102-0DDA-1B1B2AB63074}"/>
              </a:ext>
            </a:extLst>
          </p:cNvPr>
          <p:cNvCxnSpPr>
            <a:cxnSpLocks/>
          </p:cNvCxnSpPr>
          <p:nvPr/>
        </p:nvCxnSpPr>
        <p:spPr>
          <a:xfrm>
            <a:off x="207818" y="763405"/>
            <a:ext cx="8764749" cy="0"/>
          </a:xfrm>
          <a:prstGeom prst="straightConnector1">
            <a:avLst/>
          </a:prstGeom>
          <a:noFill/>
          <a:ln w="38100" cap="flat" cmpd="sng">
            <a:solidFill>
              <a:srgbClr val="DD3B4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5CC1D74-D788-AFCC-441C-227113B45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21" y="836291"/>
            <a:ext cx="2297638" cy="18107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2794671-AC21-3AE4-8ECA-C2D5B99205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6359" y="893305"/>
            <a:ext cx="1913302" cy="167844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7AC34DF-C9E1-5552-2CA5-8630662504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818" y="2701649"/>
            <a:ext cx="2297638" cy="167844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E6AFB19-1575-4B71-DE1B-1A11DA3A57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84559" y="2644635"/>
            <a:ext cx="1913302" cy="176427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E3209CE-37C2-61E7-225F-C81B9CBDAB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3209" y="811662"/>
            <a:ext cx="2384090" cy="176008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409D2D2-94DA-3645-B6B4-7A058405D0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9019" y="811662"/>
            <a:ext cx="2332056" cy="183534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696329C-6F4D-24C5-B05D-CA9D2E584B3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23209" y="2644635"/>
            <a:ext cx="2393186" cy="174220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7FD8ABF-D9DC-942C-05A3-2A374DC8F0B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6228" y="2644635"/>
            <a:ext cx="2297638" cy="1867333"/>
          </a:xfrm>
          <a:prstGeom prst="rect">
            <a:avLst/>
          </a:prstGeom>
        </p:spPr>
      </p:pic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7A4BD37C-31E0-191A-313E-D156F7B694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889831"/>
              </p:ext>
            </p:extLst>
          </p:nvPr>
        </p:nvGraphicFramePr>
        <p:xfrm>
          <a:off x="1924492" y="4566613"/>
          <a:ext cx="5295016" cy="3937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059003">
                  <a:extLst>
                    <a:ext uri="{9D8B030D-6E8A-4147-A177-3AD203B41FA5}">
                      <a16:colId xmlns:a16="http://schemas.microsoft.com/office/drawing/2014/main" val="3210624753"/>
                    </a:ext>
                  </a:extLst>
                </a:gridCol>
                <a:gridCol w="1059003">
                  <a:extLst>
                    <a:ext uri="{9D8B030D-6E8A-4147-A177-3AD203B41FA5}">
                      <a16:colId xmlns:a16="http://schemas.microsoft.com/office/drawing/2014/main" val="1367069362"/>
                    </a:ext>
                  </a:extLst>
                </a:gridCol>
                <a:gridCol w="1434750">
                  <a:extLst>
                    <a:ext uri="{9D8B030D-6E8A-4147-A177-3AD203B41FA5}">
                      <a16:colId xmlns:a16="http://schemas.microsoft.com/office/drawing/2014/main" val="481375946"/>
                    </a:ext>
                  </a:extLst>
                </a:gridCol>
                <a:gridCol w="955448">
                  <a:extLst>
                    <a:ext uri="{9D8B030D-6E8A-4147-A177-3AD203B41FA5}">
                      <a16:colId xmlns:a16="http://schemas.microsoft.com/office/drawing/2014/main" val="1525527827"/>
                    </a:ext>
                  </a:extLst>
                </a:gridCol>
                <a:gridCol w="786812">
                  <a:extLst>
                    <a:ext uri="{9D8B030D-6E8A-4147-A177-3AD203B41FA5}">
                      <a16:colId xmlns:a16="http://schemas.microsoft.com/office/drawing/2014/main" val="1280420657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RMSE_MEAN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RMSE_STD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MAE_MEAN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MAE_STD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STATIONS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46587468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3.554941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1.867964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2.903102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1.645809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03843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6873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B9B71889-2642-1880-68EB-2CD7D001C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ABED796E-60B4-C0DD-25D1-7BA4C8A813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7818" y="316596"/>
            <a:ext cx="7969104" cy="44680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algn="ctr"/>
            <a:r>
              <a:rPr lang="fr-CA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Conclusions</a:t>
            </a:r>
            <a:endParaRPr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11918F52-FCD3-DDA2-9474-CD65B6DD6D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7713" y="763405"/>
            <a:ext cx="7766456" cy="425996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571500" indent="-3429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GAT can perform high Fidelity air temperature and RH field  reconstruction.</a:t>
            </a:r>
          </a:p>
          <a:p>
            <a:pPr marL="571500" indent="-3429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Capture complex urban thermal dynamics even where there are no sensors providing a continuous air temperature field helping determine cold spot and hot spots.</a:t>
            </a:r>
          </a:p>
          <a:p>
            <a:pPr marL="571500" indent="-342900">
              <a:buFont typeface="+mj-lt"/>
              <a:buAutoNum type="arabicPeriod"/>
            </a:pPr>
            <a:endParaRPr lang="en-US" dirty="0"/>
          </a:p>
          <a:p>
            <a:pPr marL="228600" indent="0" algn="ctr"/>
            <a:r>
              <a:rPr lang="fr-CA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Perspectives</a:t>
            </a:r>
          </a:p>
          <a:p>
            <a:pPr marL="571500" indent="-3429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preliminary results provide actionable insights for urban planning</a:t>
            </a:r>
          </a:p>
          <a:p>
            <a:pPr marL="571500" indent="-3429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Promising for urban heat island intensity studies in cities such as Montreal.</a:t>
            </a:r>
          </a:p>
          <a:p>
            <a:pPr marL="571500" indent="-3429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using air temperature fields simulated by our model in cities can more effectively address the challenges of UHI and climate change</a:t>
            </a:r>
          </a:p>
          <a:p>
            <a:pPr marL="228600" indent="0"/>
            <a:endParaRPr lang="fr-CA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5" name="Google Shape;65;p15">
            <a:extLst>
              <a:ext uri="{FF2B5EF4-FFF2-40B4-BE49-F238E27FC236}">
                <a16:creationId xmlns:a16="http://schemas.microsoft.com/office/drawing/2014/main" id="{A0534A86-0DDE-EB8B-25DC-08C4A09DB0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4168" y="120126"/>
            <a:ext cx="908399" cy="39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Google Shape;63;p15">
            <a:extLst>
              <a:ext uri="{FF2B5EF4-FFF2-40B4-BE49-F238E27FC236}">
                <a16:creationId xmlns:a16="http://schemas.microsoft.com/office/drawing/2014/main" id="{1C4B786F-63A2-57E1-CF6F-62A84272352F}"/>
              </a:ext>
            </a:extLst>
          </p:cNvPr>
          <p:cNvCxnSpPr>
            <a:cxnSpLocks/>
          </p:cNvCxnSpPr>
          <p:nvPr/>
        </p:nvCxnSpPr>
        <p:spPr>
          <a:xfrm>
            <a:off x="207818" y="763405"/>
            <a:ext cx="8764749" cy="0"/>
          </a:xfrm>
          <a:prstGeom prst="straightConnector1">
            <a:avLst/>
          </a:prstGeom>
          <a:noFill/>
          <a:ln w="38100" cap="flat" cmpd="sng">
            <a:solidFill>
              <a:srgbClr val="DD3B4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073689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hèm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6042</TotalTime>
  <Words>478</Words>
  <Application>Microsoft Office PowerPoint</Application>
  <PresentationFormat>On-screen Show (16:9)</PresentationFormat>
  <Paragraphs>136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Context  </vt:lpstr>
      <vt:lpstr>Research Objectives</vt:lpstr>
      <vt:lpstr>Case Study- Montreal</vt:lpstr>
      <vt:lpstr>Main Results </vt:lpstr>
      <vt:lpstr>Main Results</vt:lpstr>
      <vt:lpstr>Main Results - RH 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Didier Haillot</dc:creator>
  <cp:lastModifiedBy>Edwin O. Awino</cp:lastModifiedBy>
  <cp:revision>259</cp:revision>
  <dcterms:created xsi:type="dcterms:W3CDTF">2018-06-04T02:46:09Z</dcterms:created>
  <dcterms:modified xsi:type="dcterms:W3CDTF">2026-01-29T18:29:09Z</dcterms:modified>
</cp:coreProperties>
</file>