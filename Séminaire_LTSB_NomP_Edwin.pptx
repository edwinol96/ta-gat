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 bookmarkIdSeed="3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81" r:id="rId4"/>
    <p:sldId id="323" r:id="rId5"/>
    <p:sldId id="313" r:id="rId6"/>
    <p:sldId id="322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YHivA6LISohVAVHa9jX/mZuYzy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illot, Didier" initials="HD" lastIdx="14" clrIdx="0">
    <p:extLst>
      <p:ext uri="{19B8F6BF-5375-455C-9EA6-DF929625EA0E}">
        <p15:presenceInfo xmlns:p15="http://schemas.microsoft.com/office/powerpoint/2012/main" userId="S-1-5-21-1687880748-1508930569-720635935-3907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3B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592621-4EC3-735D-6EF7-C83E18DE3FD3}" v="64" dt="2026-01-30T14:49:12.469"/>
    <p1510:client id="{4A08DB07-C2D6-5062-EA55-0A80DEBC0DC7}" v="13" dt="2026-01-29T20:56:13.781"/>
    <p1510:client id="{9449D150-9ED6-7139-34CB-895A2DF11C6D}" v="322" dt="2026-01-29T19:11:01.432"/>
    <p1510:client id="{E4A9DD32-0286-1479-3630-8A52352C28DE}" v="393" dt="2026-01-30T17:24:16.8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076" autoAdjust="0"/>
  </p:normalViewPr>
  <p:slideViewPr>
    <p:cSldViewPr snapToGrid="0">
      <p:cViewPr>
        <p:scale>
          <a:sx n="60" d="100"/>
          <a:sy n="60" d="100"/>
        </p:scale>
        <p:origin x="1444" y="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28" Type="http://customschemas.google.com/relationships/presentationmetadata" Target="meta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C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Google Shape;5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/>
          </a:p>
        </p:txBody>
      </p:sp>
      <p:sp>
        <p:nvSpPr>
          <p:cNvPr id="60" name="Google Shape;6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Google Shape;5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/>
          </a:p>
        </p:txBody>
      </p:sp>
      <p:sp>
        <p:nvSpPr>
          <p:cNvPr id="60" name="Google Shape;6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5907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EFE5EC92-BD98-058E-A48E-F1C78BDE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:notes">
            <a:extLst>
              <a:ext uri="{FF2B5EF4-FFF2-40B4-BE49-F238E27FC236}">
                <a16:creationId xmlns:a16="http://schemas.microsoft.com/office/drawing/2014/main" id="{557FBFA3-30EE-EDA5-CF24-1C47AF1511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Google Shape;59;p15:notes">
            <a:extLst>
              <a:ext uri="{FF2B5EF4-FFF2-40B4-BE49-F238E27FC236}">
                <a16:creationId xmlns:a16="http://schemas.microsoft.com/office/drawing/2014/main" id="{01328572-91EE-D6E5-0384-F52DEDE3AE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/>
          </a:p>
        </p:txBody>
      </p:sp>
      <p:sp>
        <p:nvSpPr>
          <p:cNvPr id="60" name="Google Shape;60;p15:notes">
            <a:extLst>
              <a:ext uri="{FF2B5EF4-FFF2-40B4-BE49-F238E27FC236}">
                <a16:creationId xmlns:a16="http://schemas.microsoft.com/office/drawing/2014/main" id="{3342C1F6-B85B-CEDC-E92A-09B6BC0C24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6486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A0DCFC1-54B2-9902-751A-47829C3D3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:notes">
            <a:extLst>
              <a:ext uri="{FF2B5EF4-FFF2-40B4-BE49-F238E27FC236}">
                <a16:creationId xmlns:a16="http://schemas.microsoft.com/office/drawing/2014/main" id="{850D5EA6-F259-9D20-F81F-A63A075323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Google Shape;59;p15:notes">
            <a:extLst>
              <a:ext uri="{FF2B5EF4-FFF2-40B4-BE49-F238E27FC236}">
                <a16:creationId xmlns:a16="http://schemas.microsoft.com/office/drawing/2014/main" id="{0104C3CC-469A-0105-2311-975DDFCAAD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/>
          </a:p>
        </p:txBody>
      </p:sp>
      <p:sp>
        <p:nvSpPr>
          <p:cNvPr id="60" name="Google Shape;60;p15:notes">
            <a:extLst>
              <a:ext uri="{FF2B5EF4-FFF2-40B4-BE49-F238E27FC236}">
                <a16:creationId xmlns:a16="http://schemas.microsoft.com/office/drawing/2014/main" id="{D9449F68-94B3-FCB5-D3C2-7A09C9AA6E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8649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152C0B8-39E4-6176-431D-AEA0AB21D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:notes">
            <a:extLst>
              <a:ext uri="{FF2B5EF4-FFF2-40B4-BE49-F238E27FC236}">
                <a16:creationId xmlns:a16="http://schemas.microsoft.com/office/drawing/2014/main" id="{10C47758-2479-0279-36C0-A5DDBBA24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Google Shape;59;p15:notes">
            <a:extLst>
              <a:ext uri="{FF2B5EF4-FFF2-40B4-BE49-F238E27FC236}">
                <a16:creationId xmlns:a16="http://schemas.microsoft.com/office/drawing/2014/main" id="{8CF87E3E-6BCD-7585-756E-3428C2850B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endParaRPr/>
          </a:p>
        </p:txBody>
      </p:sp>
      <p:sp>
        <p:nvSpPr>
          <p:cNvPr id="60" name="Google Shape;60;p15:notes">
            <a:extLst>
              <a:ext uri="{FF2B5EF4-FFF2-40B4-BE49-F238E27FC236}">
                <a16:creationId xmlns:a16="http://schemas.microsoft.com/office/drawing/2014/main" id="{5A31CEA0-631A-0DA3-3772-008D4BC21F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CA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6474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>
            <a:spLocks noGrp="1"/>
          </p:cNvSpPr>
          <p:nvPr>
            <p:ph type="pic" idx="2"/>
          </p:nvPr>
        </p:nvSpPr>
        <p:spPr>
          <a:xfrm>
            <a:off x="597050" y="0"/>
            <a:ext cx="3430665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4266176" y="342900"/>
            <a:ext cx="4290376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4266176" y="1543050"/>
            <a:ext cx="4290376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11"/>
          <p:cNvSpPr txBox="1"/>
          <p:nvPr/>
        </p:nvSpPr>
        <p:spPr>
          <a:xfrm>
            <a:off x="180162" y="4805756"/>
            <a:ext cx="28047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CA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>
            <a:spLocks noGrp="1"/>
          </p:cNvSpPr>
          <p:nvPr>
            <p:ph type="pic" idx="2"/>
          </p:nvPr>
        </p:nvSpPr>
        <p:spPr>
          <a:xfrm>
            <a:off x="4849584" y="255814"/>
            <a:ext cx="2068286" cy="488768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2"/>
          <p:cNvSpPr>
            <a:spLocks noGrp="1"/>
          </p:cNvSpPr>
          <p:nvPr>
            <p:ph type="pic" idx="3"/>
          </p:nvPr>
        </p:nvSpPr>
        <p:spPr>
          <a:xfrm>
            <a:off x="7075714" y="0"/>
            <a:ext cx="2068286" cy="4887686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629841" y="828845"/>
            <a:ext cx="3708243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629841" y="2028995"/>
            <a:ext cx="3708243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/>
          <p:nvPr/>
        </p:nvSpPr>
        <p:spPr>
          <a:xfrm>
            <a:off x="180162" y="4867120"/>
            <a:ext cx="198581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fr-CA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311331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title"/>
          </p:nvPr>
        </p:nvSpPr>
        <p:spPr>
          <a:xfrm>
            <a:off x="677688" y="3113315"/>
            <a:ext cx="4290376" cy="4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body" idx="1"/>
          </p:nvPr>
        </p:nvSpPr>
        <p:spPr>
          <a:xfrm>
            <a:off x="677687" y="3714155"/>
            <a:ext cx="7392425" cy="127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3"/>
          <p:cNvSpPr txBox="1"/>
          <p:nvPr/>
        </p:nvSpPr>
        <p:spPr>
          <a:xfrm>
            <a:off x="180162" y="4867120"/>
            <a:ext cx="198581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fr-CA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>
            <a:spLocks noGrp="1"/>
          </p:cNvSpPr>
          <p:nvPr>
            <p:ph type="pic" idx="2"/>
          </p:nvPr>
        </p:nvSpPr>
        <p:spPr>
          <a:xfrm>
            <a:off x="0" y="2571751"/>
            <a:ext cx="9144000" cy="25717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677688" y="413382"/>
            <a:ext cx="4290376" cy="4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677687" y="1014222"/>
            <a:ext cx="7392425" cy="127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14"/>
          <p:cNvSpPr txBox="1"/>
          <p:nvPr/>
        </p:nvSpPr>
        <p:spPr>
          <a:xfrm>
            <a:off x="180162" y="4867120"/>
            <a:ext cx="198581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fr-CA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0"/>
          <p:cNvSpPr txBox="1"/>
          <p:nvPr/>
        </p:nvSpPr>
        <p:spPr>
          <a:xfrm>
            <a:off x="180163" y="4867120"/>
            <a:ext cx="198581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fr-CA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t>‹#›</a:t>
            </a:fld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902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/>
          <p:nvPr/>
        </p:nvSpPr>
        <p:spPr>
          <a:xfrm rot="10800000" flipH="1">
            <a:off x="79872" y="4677434"/>
            <a:ext cx="414173" cy="381900"/>
          </a:xfrm>
          <a:prstGeom prst="halfFrame">
            <a:avLst>
              <a:gd name="adj1" fmla="val 12280"/>
              <a:gd name="adj2" fmla="val 12280"/>
            </a:avLst>
          </a:prstGeom>
          <a:solidFill>
            <a:srgbClr val="DD3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9"/>
          <p:cNvSpPr/>
          <p:nvPr/>
        </p:nvSpPr>
        <p:spPr>
          <a:xfrm flipH="1">
            <a:off x="8646842" y="80098"/>
            <a:ext cx="414173" cy="381900"/>
          </a:xfrm>
          <a:prstGeom prst="halfFrame">
            <a:avLst>
              <a:gd name="adj1" fmla="val 12280"/>
              <a:gd name="adj2" fmla="val 12280"/>
            </a:avLst>
          </a:prstGeom>
          <a:solidFill>
            <a:srgbClr val="DD3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36478" y="4549514"/>
            <a:ext cx="508587" cy="5043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5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jpeg"/><Relationship Id="rId5" Type="http://schemas.openxmlformats.org/officeDocument/2006/relationships/image" Target="../media/image12.png"/><Relationship Id="rId10" Type="http://schemas.openxmlformats.org/officeDocument/2006/relationships/image" Target="../media/image17.jpeg"/><Relationship Id="rId4" Type="http://schemas.openxmlformats.org/officeDocument/2006/relationships/image" Target="../media/image9.png"/><Relationship Id="rId9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" r="2"/>
          <a:stretch/>
        </p:blipFill>
        <p:spPr>
          <a:xfrm>
            <a:off x="836802" y="0"/>
            <a:ext cx="8307198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pic>
      <p:sp>
        <p:nvSpPr>
          <p:cNvPr id="42" name="Google Shape;42;p1"/>
          <p:cNvSpPr/>
          <p:nvPr/>
        </p:nvSpPr>
        <p:spPr>
          <a:xfrm flipH="1">
            <a:off x="3543748" y="2322576"/>
            <a:ext cx="5600252" cy="2820924"/>
          </a:xfrm>
          <a:prstGeom prst="rtTriangle">
            <a:avLst/>
          </a:prstGeom>
          <a:solidFill>
            <a:srgbClr val="0C0C0C">
              <a:alpha val="6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13"/>
            </a:pPr>
            <a:endParaRPr sz="1013">
              <a:solidFill>
                <a:schemeClr val="lt1"/>
              </a:solidFill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0" y="0"/>
            <a:ext cx="6826541" cy="5149792"/>
          </a:xfrm>
          <a:custGeom>
            <a:avLst/>
            <a:gdLst/>
            <a:ahLst/>
            <a:cxnLst/>
            <a:rect l="l" t="t" r="r" b="b"/>
            <a:pathLst>
              <a:path w="7813755" h="6858000" extrusionOk="0">
                <a:moveTo>
                  <a:pt x="0" y="0"/>
                </a:moveTo>
                <a:lnTo>
                  <a:pt x="973535" y="7620"/>
                </a:lnTo>
                <a:lnTo>
                  <a:pt x="781375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3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013"/>
            </a:pPr>
            <a:endParaRPr sz="1013">
              <a:solidFill>
                <a:schemeClr val="lt1"/>
              </a:solidFill>
            </a:endParaRPr>
          </a:p>
        </p:txBody>
      </p:sp>
      <p:pic>
        <p:nvPicPr>
          <p:cNvPr id="44" name="Google Shape;4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10176" y="3834519"/>
            <a:ext cx="2046956" cy="134355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 txBox="1"/>
          <p:nvPr/>
        </p:nvSpPr>
        <p:spPr>
          <a:xfrm>
            <a:off x="132033" y="1716209"/>
            <a:ext cx="7131796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fr-CA" sz="2000" b="1" dirty="0">
                <a:solidFill>
                  <a:schemeClr val="lt1"/>
                </a:solidFill>
                <a:latin typeface="Calibri"/>
              </a:rPr>
              <a:t>Graph Attention Networks for High Fidelity Thermal field reconstruction from Sparse sensors.</a:t>
            </a:r>
            <a:endParaRPr sz="2000" b="1" dirty="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219929" y="2955510"/>
            <a:ext cx="4844289" cy="1539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fr-CA" sz="1500" b="1" dirty="0">
                <a:solidFill>
                  <a:schemeClr val="lt1"/>
                </a:solidFill>
              </a:rPr>
              <a:t>Edwin Oluoch Awino</a:t>
            </a:r>
            <a:endParaRPr lang="fr-FR" dirty="0">
              <a:solidFill>
                <a:schemeClr val="lt1"/>
              </a:solidFill>
            </a:endParaRPr>
          </a:p>
          <a:p>
            <a:pPr>
              <a:lnSpc>
                <a:spcPct val="90000"/>
              </a:lnSpc>
            </a:pPr>
            <a:endParaRPr lang="fr-CA" sz="1200" dirty="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>
              <a:lnSpc>
                <a:spcPct val="90000"/>
              </a:lnSpc>
            </a:pPr>
            <a:r>
              <a:rPr lang="fr-CA" b="1" dirty="0">
                <a:solidFill>
                  <a:schemeClr val="bg1"/>
                </a:solidFill>
              </a:rPr>
              <a:t>PhD Student in Construction Engineering</a:t>
            </a:r>
          </a:p>
          <a:p>
            <a:pPr>
              <a:lnSpc>
                <a:spcPct val="90000"/>
              </a:lnSpc>
            </a:pPr>
            <a:endParaRPr lang="fr-CA" sz="2000" dirty="0">
              <a:solidFill>
                <a:schemeClr val="lt1"/>
              </a:solidFill>
            </a:endParaRPr>
          </a:p>
          <a:p>
            <a:pPr>
              <a:lnSpc>
                <a:spcPct val="90000"/>
              </a:lnSpc>
            </a:pPr>
            <a:r>
              <a:rPr lang="fr-CA" dirty="0">
                <a:solidFill>
                  <a:schemeClr val="lt1"/>
                </a:solidFill>
              </a:rPr>
              <a:t>Codirection Prof. </a:t>
            </a:r>
            <a:r>
              <a:rPr lang="en-US" dirty="0">
                <a:solidFill>
                  <a:schemeClr val="bg1"/>
                </a:solidFill>
              </a:rPr>
              <a:t>Merabtine </a:t>
            </a:r>
            <a:r>
              <a:rPr lang="fr-CA" dirty="0">
                <a:solidFill>
                  <a:schemeClr val="lt1"/>
                </a:solidFill>
              </a:rPr>
              <a:t>&amp; Prof. Snaiki</a:t>
            </a:r>
          </a:p>
          <a:p>
            <a:pPr>
              <a:lnSpc>
                <a:spcPct val="90000"/>
              </a:lnSpc>
            </a:pPr>
            <a:r>
              <a:rPr lang="fr-CA" dirty="0">
                <a:solidFill>
                  <a:schemeClr val="lt1"/>
                </a:solidFill>
              </a:rPr>
              <a:t>30 January, 2026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47" name="Google Shape;4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088" y="4506294"/>
            <a:ext cx="908566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207818" y="65938"/>
            <a:ext cx="7969104" cy="4468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algn="ctr"/>
            <a:r>
              <a:rPr lang="fr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</a:t>
            </a:r>
            <a:br>
              <a:rPr lang="fr-CA" sz="2000" dirty="0"/>
            </a:br>
            <a:r>
              <a:rPr lang="fr-CA" sz="2000" dirty="0"/>
              <a:t>	</a:t>
            </a:r>
            <a:endParaRPr sz="2000" dirty="0"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335592" y="695608"/>
            <a:ext cx="5814400" cy="397904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570865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Calibri"/>
                <a:ea typeface="Calibri"/>
                <a:cs typeface="Calibri"/>
              </a:rPr>
              <a:t>55% to 56% of the world's population currently lives in urban areas - projected to rise to 68%–70% by 2050</a:t>
            </a:r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570865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Coupled with climate change- emphasizes the importance of climate adaptation strategies in urban development.</a:t>
            </a:r>
          </a:p>
          <a:p>
            <a:pPr marL="570865" indent="-34290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Urban Heat Island (UHI) effect- </a:t>
            </a:r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Urban areas experience higher temperature than neighboring rural area.</a:t>
            </a:r>
          </a:p>
          <a:p>
            <a:pPr marL="570865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To model UHI we need continuous temperature fields.</a:t>
            </a:r>
          </a:p>
          <a:p>
            <a:pPr marL="570865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Numerical models?- Costly and time consuming</a:t>
            </a:r>
          </a:p>
          <a:p>
            <a:pPr marL="570865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Traditional interpolation e.g. </a:t>
            </a:r>
            <a:r>
              <a:rPr lang="en-US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Krigging</a:t>
            </a:r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? Rely on Euclidean distance.</a:t>
            </a:r>
          </a:p>
          <a:p>
            <a:pPr marL="570865" indent="-342900" algn="ctr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Research Questions</a:t>
            </a:r>
          </a:p>
          <a:p>
            <a:pPr marL="570865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To what extent can GNN model Temperature field from sparse sensors and remote sensing?</a:t>
            </a:r>
          </a:p>
          <a:p>
            <a:pPr marL="570865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How can temperature field derived from GNN be useful for UHI mapping and improved Urban planning?</a:t>
            </a:r>
            <a:endParaRPr lang="fr-CA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27965" indent="0"/>
            <a:endParaRPr lang="fr-CA" sz="1600" dirty="0"/>
          </a:p>
        </p:txBody>
      </p:sp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4168" y="120126"/>
            <a:ext cx="908399" cy="39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" name="Google Shape;63;p15">
            <a:extLst>
              <a:ext uri="{FF2B5EF4-FFF2-40B4-BE49-F238E27FC236}">
                <a16:creationId xmlns:a16="http://schemas.microsoft.com/office/drawing/2014/main" id="{E5B0A1E9-F73C-42B9-A125-58F414B5A78D}"/>
              </a:ext>
            </a:extLst>
          </p:cNvPr>
          <p:cNvCxnSpPr>
            <a:cxnSpLocks/>
          </p:cNvCxnSpPr>
          <p:nvPr/>
        </p:nvCxnSpPr>
        <p:spPr>
          <a:xfrm>
            <a:off x="147660" y="602984"/>
            <a:ext cx="8764749" cy="0"/>
          </a:xfrm>
          <a:prstGeom prst="straightConnector1">
            <a:avLst/>
          </a:prstGeom>
          <a:noFill/>
          <a:ln w="38100" cap="flat" cmpd="sng">
            <a:solidFill>
              <a:srgbClr val="DD3B4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466A84E-8EFE-99DA-D7EA-C48D4A6B80B8}"/>
              </a:ext>
            </a:extLst>
          </p:cNvPr>
          <p:cNvSpPr txBox="1"/>
          <p:nvPr/>
        </p:nvSpPr>
        <p:spPr>
          <a:xfrm>
            <a:off x="6242158" y="3396064"/>
            <a:ext cx="26123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   Source: Earth.org</a:t>
            </a:r>
          </a:p>
        </p:txBody>
      </p:sp>
      <p:pic>
        <p:nvPicPr>
          <p:cNvPr id="5" name="Picture 4" descr="Urban heat island effect">
            <a:extLst>
              <a:ext uri="{FF2B5EF4-FFF2-40B4-BE49-F238E27FC236}">
                <a16:creationId xmlns:a16="http://schemas.microsoft.com/office/drawing/2014/main" id="{637DF115-CD0A-F318-6AA3-A510A2A25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106" y="1288371"/>
            <a:ext cx="2930071" cy="21041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207818" y="316596"/>
            <a:ext cx="7969104" cy="4468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algn="ctr"/>
            <a:r>
              <a:rPr lang="fr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Objectives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207293" y="858076"/>
            <a:ext cx="5688027" cy="379646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88265" indent="0">
              <a:spcBef>
                <a:spcPts val="0"/>
              </a:spcBef>
            </a:pPr>
            <a:endParaRPr lang="fr-FR" sz="1600" dirty="0">
              <a:solidFill>
                <a:schemeClr val="tx1"/>
              </a:solidFill>
              <a:latin typeface="Calibri"/>
            </a:endParaRPr>
          </a:p>
          <a:p>
            <a:pPr marL="431165" indent="-342900">
              <a:spcBef>
                <a:spcPts val="0"/>
              </a:spcBef>
              <a:buAutoNum type="arabicPeriod"/>
            </a:pPr>
            <a:r>
              <a:rPr lang="en-CA" dirty="0">
                <a:solidFill>
                  <a:schemeClr val="tx1"/>
                </a:solidFill>
                <a:latin typeface="Calibri"/>
                <a:cs typeface="Times New Roman"/>
              </a:rPr>
              <a:t>To develop GNN framework that produces high-resolution Air temperature fields </a:t>
            </a:r>
            <a:r>
              <a:rPr lang="en-CA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cs typeface="Times New Roman"/>
              </a:rPr>
              <a:t>from sparse observations and remote sensing.</a:t>
            </a:r>
            <a:endParaRPr lang="fr-CA" dirty="0">
              <a:solidFill>
                <a:schemeClr val="tx1"/>
              </a:solidFill>
              <a:latin typeface="Calibri"/>
            </a:endParaRPr>
          </a:p>
          <a:p>
            <a:pPr marL="431165" indent="-342900">
              <a:spcBef>
                <a:spcPts val="0"/>
              </a:spcBef>
              <a:buAutoNum type="arabicPeriod"/>
            </a:pPr>
            <a:endParaRPr lang="en-CA" dirty="0">
              <a:solidFill>
                <a:schemeClr val="tx1"/>
              </a:solidFill>
              <a:highlight>
                <a:srgbClr val="FFFFFF"/>
              </a:highlight>
              <a:latin typeface="Calibri"/>
              <a:cs typeface="Times New Roman"/>
            </a:endParaRPr>
          </a:p>
          <a:p>
            <a:pPr marL="374015" indent="-285750">
              <a:spcBef>
                <a:spcPts val="0"/>
              </a:spcBef>
              <a:buAutoNum type="arabicPeriod"/>
            </a:pPr>
            <a:r>
              <a:rPr lang="fr-CA" dirty="0">
                <a:solidFill>
                  <a:schemeClr val="tx1"/>
                </a:solidFill>
                <a:latin typeface="Calibri"/>
              </a:rPr>
              <a:t> To </a:t>
            </a:r>
            <a:r>
              <a:rPr lang="fr-CA" err="1">
                <a:solidFill>
                  <a:schemeClr val="tx1"/>
                </a:solidFill>
                <a:highlight>
                  <a:srgbClr val="FFFFFF"/>
                </a:highlight>
                <a:latin typeface="Calibri"/>
                <a:cs typeface="Times New Roman"/>
              </a:rPr>
              <a:t>build</a:t>
            </a:r>
            <a:r>
              <a:rPr lang="fr-CA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cs typeface="Times New Roman"/>
              </a:rPr>
              <a:t> a pipeline that downscales and bias-corrects </a:t>
            </a:r>
            <a:r>
              <a:rPr lang="fr-CA" dirty="0">
                <a:solidFill>
                  <a:schemeClr val="tx1"/>
                </a:solidFill>
                <a:latin typeface="Calibri"/>
                <a:cs typeface="Times New Roman"/>
              </a:rPr>
              <a:t>CMIP6</a:t>
            </a:r>
            <a:r>
              <a:rPr lang="fr-CA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cs typeface="Times New Roman"/>
              </a:rPr>
              <a:t> scenarios to produce ensemble future UHI realizations.</a:t>
            </a:r>
          </a:p>
          <a:p>
            <a:pPr marL="374015" indent="-285750">
              <a:spcBef>
                <a:spcPts val="0"/>
              </a:spcBef>
              <a:buAutoNum type="arabicPeriod"/>
            </a:pPr>
            <a:endParaRPr lang="fr-CA" dirty="0">
              <a:solidFill>
                <a:schemeClr val="tx1"/>
              </a:solidFill>
              <a:highlight>
                <a:srgbClr val="FFFFFF"/>
              </a:highlight>
              <a:latin typeface="Calibri"/>
              <a:cs typeface="Times New Roman"/>
            </a:endParaRPr>
          </a:p>
          <a:p>
            <a:pPr marL="374015" indent="-285750">
              <a:spcBef>
                <a:spcPts val="0"/>
              </a:spcBef>
              <a:buAutoNum type="arabicPeriod"/>
            </a:pPr>
            <a:r>
              <a:rPr lang="en-CA" dirty="0">
                <a:solidFill>
                  <a:schemeClr val="tx1"/>
                </a:solidFill>
                <a:highlight>
                  <a:srgbClr val="FFFFFF"/>
                </a:highlight>
                <a:latin typeface="Calibri"/>
                <a:cs typeface="Times New Roman"/>
              </a:rPr>
              <a:t>To use the trained surrogate to discover spatially targeted, budget-aware mitigation policies</a:t>
            </a:r>
            <a:endParaRPr lang="fr-CA" dirty="0">
              <a:solidFill>
                <a:schemeClr val="tx1"/>
              </a:solidFill>
              <a:highlight>
                <a:srgbClr val="FFFFFF"/>
              </a:highlight>
              <a:latin typeface="Calibri"/>
              <a:cs typeface="Times New Roman"/>
            </a:endParaRPr>
          </a:p>
          <a:p>
            <a:pPr marL="374015" indent="-285750">
              <a:spcBef>
                <a:spcPts val="0"/>
              </a:spcBef>
              <a:buAutoNum type="arabicPeriod"/>
            </a:pPr>
            <a:endParaRPr lang="fr-CA" sz="1600" dirty="0">
              <a:latin typeface="Calibri"/>
            </a:endParaRPr>
          </a:p>
          <a:p>
            <a:pPr marL="285115" indent="-196215" algn="ctr">
              <a:spcBef>
                <a:spcPts val="0"/>
              </a:spcBef>
            </a:pPr>
            <a:r>
              <a:rPr lang="fr-CA" sz="1600" b="1" dirty="0">
                <a:latin typeface="Calibri"/>
              </a:rPr>
              <a:t>Framework.</a:t>
            </a:r>
            <a:endParaRPr lang="fr-CA" dirty="0"/>
          </a:p>
          <a:p>
            <a:pPr marL="285115" indent="-196215">
              <a:spcBef>
                <a:spcPts val="0"/>
              </a:spcBef>
            </a:pPr>
            <a:endParaRPr lang="fr-CA" sz="1600" dirty="0">
              <a:latin typeface="Calibri"/>
            </a:endParaRPr>
          </a:p>
          <a:p>
            <a:pPr marL="285115" indent="-196215">
              <a:spcBef>
                <a:spcPts val="0"/>
              </a:spcBef>
            </a:pPr>
            <a:endParaRPr lang="fr-CA" sz="1600" dirty="0">
              <a:latin typeface="Calibri"/>
            </a:endParaRPr>
          </a:p>
        </p:txBody>
      </p:sp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4168" y="120126"/>
            <a:ext cx="908399" cy="39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63;p15">
            <a:extLst>
              <a:ext uri="{FF2B5EF4-FFF2-40B4-BE49-F238E27FC236}">
                <a16:creationId xmlns:a16="http://schemas.microsoft.com/office/drawing/2014/main" id="{B1A4F637-65F8-4BEC-B594-407A34C0DBB1}"/>
              </a:ext>
            </a:extLst>
          </p:cNvPr>
          <p:cNvCxnSpPr>
            <a:cxnSpLocks/>
          </p:cNvCxnSpPr>
          <p:nvPr/>
        </p:nvCxnSpPr>
        <p:spPr>
          <a:xfrm>
            <a:off x="207818" y="763405"/>
            <a:ext cx="8764749" cy="0"/>
          </a:xfrm>
          <a:prstGeom prst="straightConnector1">
            <a:avLst/>
          </a:prstGeom>
          <a:noFill/>
          <a:ln w="38100" cap="flat" cmpd="sng">
            <a:solidFill>
              <a:srgbClr val="DD3B4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" name="Picture 3" descr="GNN">
            <a:extLst>
              <a:ext uri="{FF2B5EF4-FFF2-40B4-BE49-F238E27FC236}">
                <a16:creationId xmlns:a16="http://schemas.microsoft.com/office/drawing/2014/main" id="{A89A70C3-C7AF-0626-4B5D-4C3D391E2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6447" y="3218400"/>
            <a:ext cx="1458142" cy="1102924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6" name="Picture 5" descr="../_images/examples_pysensors_overview_11_0.png">
            <a:extLst>
              <a:ext uri="{FF2B5EF4-FFF2-40B4-BE49-F238E27FC236}">
                <a16:creationId xmlns:a16="http://schemas.microsoft.com/office/drawing/2014/main" id="{58E88384-9042-FEF7-5871-8E2932F00B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25" t="7082" r="3253" b="13613"/>
          <a:stretch>
            <a:fillRect/>
          </a:stretch>
        </p:blipFill>
        <p:spPr>
          <a:xfrm>
            <a:off x="217527" y="3246342"/>
            <a:ext cx="1398695" cy="1020458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74AD1E-18F5-2061-FBAB-C08A41EC4C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899" y="3244091"/>
            <a:ext cx="1637112" cy="1158253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80ED0F53-6D89-A1AA-A887-B4101A22903B}"/>
              </a:ext>
            </a:extLst>
          </p:cNvPr>
          <p:cNvSpPr/>
          <p:nvPr/>
        </p:nvSpPr>
        <p:spPr>
          <a:xfrm rot="16200000">
            <a:off x="1738855" y="3480209"/>
            <a:ext cx="287408" cy="5384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A18185A-81B6-6470-9C0B-3342B98224A2}"/>
              </a:ext>
            </a:extLst>
          </p:cNvPr>
          <p:cNvSpPr/>
          <p:nvPr/>
        </p:nvSpPr>
        <p:spPr>
          <a:xfrm rot="-5400000">
            <a:off x="3762737" y="3418616"/>
            <a:ext cx="323693" cy="6472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A421B5-B1C5-B37A-AB1D-A53D6AE6302D}"/>
              </a:ext>
            </a:extLst>
          </p:cNvPr>
          <p:cNvSpPr txBox="1"/>
          <p:nvPr/>
        </p:nvSpPr>
        <p:spPr>
          <a:xfrm>
            <a:off x="2971448" y="4351513"/>
            <a:ext cx="159717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Source: Modified</a:t>
            </a:r>
          </a:p>
        </p:txBody>
      </p:sp>
      <p:pic>
        <p:nvPicPr>
          <p:cNvPr id="13" name="Picture 12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98AEDB9C-1FDD-1D98-6310-38C293FA96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0984" y="1516290"/>
            <a:ext cx="3086102" cy="170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45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3AD6FB7-3C4B-32D0-F5B1-5D489D344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78F33827-88F9-8EC5-3A64-D40076C786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818" y="316596"/>
            <a:ext cx="7969104" cy="4468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 Study- Montreal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5" name="Google Shape;65;p15">
            <a:extLst>
              <a:ext uri="{FF2B5EF4-FFF2-40B4-BE49-F238E27FC236}">
                <a16:creationId xmlns:a16="http://schemas.microsoft.com/office/drawing/2014/main" id="{276BE36E-08A5-0C1A-D39E-F857797041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4168" y="120126"/>
            <a:ext cx="908399" cy="39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63;p15">
            <a:extLst>
              <a:ext uri="{FF2B5EF4-FFF2-40B4-BE49-F238E27FC236}">
                <a16:creationId xmlns:a16="http://schemas.microsoft.com/office/drawing/2014/main" id="{ED600C73-C4CC-D26C-A9B6-90DCD657302E}"/>
              </a:ext>
            </a:extLst>
          </p:cNvPr>
          <p:cNvCxnSpPr>
            <a:cxnSpLocks/>
          </p:cNvCxnSpPr>
          <p:nvPr/>
        </p:nvCxnSpPr>
        <p:spPr>
          <a:xfrm>
            <a:off x="207818" y="763405"/>
            <a:ext cx="8764749" cy="0"/>
          </a:xfrm>
          <a:prstGeom prst="straightConnector1">
            <a:avLst/>
          </a:prstGeom>
          <a:noFill/>
          <a:ln w="38100" cap="flat" cmpd="sng">
            <a:solidFill>
              <a:srgbClr val="DD3B4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7CE0F8-DD64-DFD5-F48E-261B8BCAC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679" y="1436248"/>
            <a:ext cx="5911917" cy="2682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406609-54C1-D682-D0D1-806E5F1BA3CF}"/>
              </a:ext>
            </a:extLst>
          </p:cNvPr>
          <p:cNvSpPr txBox="1"/>
          <p:nvPr/>
        </p:nvSpPr>
        <p:spPr>
          <a:xfrm>
            <a:off x="207818" y="959875"/>
            <a:ext cx="28198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 Sparse sensors located over a section of Montreal measuring Ta, RH and dew point.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minutes temporal resolution.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sensors in areas we are likely to experience UHI- such as Old Town Montreal.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098227-8330-2A3B-D4B8-148338C1CA1A}"/>
              </a:ext>
            </a:extLst>
          </p:cNvPr>
          <p:cNvSpPr txBox="1"/>
          <p:nvPr/>
        </p:nvSpPr>
        <p:spPr>
          <a:xfrm>
            <a:off x="3945780" y="4168526"/>
            <a:ext cx="367530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Source: Author</a:t>
            </a:r>
          </a:p>
        </p:txBody>
      </p:sp>
    </p:spTree>
    <p:extLst>
      <p:ext uri="{BB962C8B-B14F-4D97-AF65-F5344CB8AC3E}">
        <p14:creationId xmlns:p14="http://schemas.microsoft.com/office/powerpoint/2010/main" val="3746115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26F5C626-FA07-FE05-1868-ABB0C2846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BAC1B5A6-5FE0-E363-9976-F1EDCD854A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818" y="316596"/>
            <a:ext cx="7969104" cy="4468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algn="ctr"/>
            <a:r>
              <a:rPr lang="fr-CA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Results </a:t>
            </a:r>
            <a:endParaRPr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95A80742-B650-4CF5-983D-39FA9F661E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7795" y="772803"/>
            <a:ext cx="7982799" cy="39965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88265" indent="0">
              <a:lnSpc>
                <a:spcPct val="150000"/>
              </a:lnSpc>
              <a:spcBef>
                <a:spcPts val="0"/>
              </a:spcBef>
            </a:pPr>
            <a:r>
              <a:rPr lang="fr-CA" sz="1600" dirty="0">
                <a:latin typeface="Calibri"/>
                <a:ea typeface="Calibri"/>
                <a:cs typeface="Calibri"/>
              </a:rPr>
              <a:t>                                     (a)Ta                                                          (b)RH</a:t>
            </a:r>
            <a:endParaRPr lang="fr-CA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5" name="Google Shape;65;p15">
            <a:extLst>
              <a:ext uri="{FF2B5EF4-FFF2-40B4-BE49-F238E27FC236}">
                <a16:creationId xmlns:a16="http://schemas.microsoft.com/office/drawing/2014/main" id="{0207EADE-4331-4796-876F-3E141558B9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4168" y="120126"/>
            <a:ext cx="908399" cy="39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63;p15">
            <a:extLst>
              <a:ext uri="{FF2B5EF4-FFF2-40B4-BE49-F238E27FC236}">
                <a16:creationId xmlns:a16="http://schemas.microsoft.com/office/drawing/2014/main" id="{6BE8788B-88B3-1D5B-6A86-CD34C9AB37ED}"/>
              </a:ext>
            </a:extLst>
          </p:cNvPr>
          <p:cNvCxnSpPr>
            <a:cxnSpLocks/>
          </p:cNvCxnSpPr>
          <p:nvPr/>
        </p:nvCxnSpPr>
        <p:spPr>
          <a:xfrm>
            <a:off x="207818" y="763405"/>
            <a:ext cx="8764749" cy="0"/>
          </a:xfrm>
          <a:prstGeom prst="straightConnector1">
            <a:avLst/>
          </a:prstGeom>
          <a:noFill/>
          <a:ln w="38100" cap="flat" cmpd="sng">
            <a:solidFill>
              <a:srgbClr val="DD3B4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7B25F18-6085-0755-96F2-A440E57A277C}"/>
              </a:ext>
            </a:extLst>
          </p:cNvPr>
          <p:cNvGrpSpPr/>
          <p:nvPr/>
        </p:nvGrpSpPr>
        <p:grpSpPr>
          <a:xfrm>
            <a:off x="857481" y="1140222"/>
            <a:ext cx="3040536" cy="1548448"/>
            <a:chOff x="-380619" y="1484548"/>
            <a:chExt cx="10098621" cy="34289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328C3C8-69FE-D10F-044E-8CF440E47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8801" y="1484548"/>
              <a:ext cx="5029201" cy="342899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6C8FA3B-8DC8-901C-C88E-20501D27D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80619" y="1562614"/>
              <a:ext cx="5150299" cy="3335121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DA0A13-2274-2238-AB2D-2026DA9984B6}"/>
              </a:ext>
            </a:extLst>
          </p:cNvPr>
          <p:cNvGrpSpPr/>
          <p:nvPr/>
        </p:nvGrpSpPr>
        <p:grpSpPr>
          <a:xfrm>
            <a:off x="906632" y="2759522"/>
            <a:ext cx="2980879" cy="1429601"/>
            <a:chOff x="-467763" y="-1865968"/>
            <a:chExt cx="9746900" cy="362762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38B8446-6C15-AD75-A00A-14289C875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6432" y="-1696195"/>
              <a:ext cx="4942705" cy="342900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58ACBB4-56C5-BF59-D3B4-CFB8682E9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67763" y="-1865968"/>
              <a:ext cx="4942705" cy="3627622"/>
            </a:xfrm>
            <a:prstGeom prst="rect">
              <a:avLst/>
            </a:prstGeom>
          </p:spPr>
        </p:pic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EB13A5F-936A-1133-7DF5-F09AC0A29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28365"/>
              </p:ext>
            </p:extLst>
          </p:nvPr>
        </p:nvGraphicFramePr>
        <p:xfrm>
          <a:off x="1092424" y="4361618"/>
          <a:ext cx="2347281" cy="40969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67320">
                  <a:extLst>
                    <a:ext uri="{9D8B030D-6E8A-4147-A177-3AD203B41FA5}">
                      <a16:colId xmlns:a16="http://schemas.microsoft.com/office/drawing/2014/main" val="1131051557"/>
                    </a:ext>
                  </a:extLst>
                </a:gridCol>
                <a:gridCol w="767320">
                  <a:extLst>
                    <a:ext uri="{9D8B030D-6E8A-4147-A177-3AD203B41FA5}">
                      <a16:colId xmlns:a16="http://schemas.microsoft.com/office/drawing/2014/main" val="1842841532"/>
                    </a:ext>
                  </a:extLst>
                </a:gridCol>
                <a:gridCol w="812641">
                  <a:extLst>
                    <a:ext uri="{9D8B030D-6E8A-4147-A177-3AD203B41FA5}">
                      <a16:colId xmlns:a16="http://schemas.microsoft.com/office/drawing/2014/main" val="3817002845"/>
                    </a:ext>
                  </a:extLst>
                </a:gridCol>
              </a:tblGrid>
              <a:tr h="204848"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STATIONS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76108493"/>
                  </a:ext>
                </a:extLst>
              </a:tr>
              <a:tr h="204848">
                <a:tc>
                  <a:txBody>
                    <a:bodyPr/>
                    <a:lstStyle/>
                    <a:p>
                      <a:pPr marL="0" indent="0" algn="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0.65917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indent="0" algn="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0.493766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indent="0" algn="r" fontAlgn="b">
                        <a:buNone/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586611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FA2F54B-B5A8-1117-6085-DEB533A4FE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8935" y="1227410"/>
            <a:ext cx="1602385" cy="15058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61CCA1-4713-26E4-C2D4-F3C9E0F7EF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5436" y="1267855"/>
            <a:ext cx="1494523" cy="14179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105D7B1-FDD6-A8D1-DADB-0E328C8779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0544" y="2771051"/>
            <a:ext cx="1610666" cy="1426045"/>
          </a:xfrm>
          <a:prstGeom prst="rect">
            <a:avLst/>
          </a:prstGeom>
        </p:spPr>
      </p:pic>
      <p:pic>
        <p:nvPicPr>
          <p:cNvPr id="19" name="Picture 18" descr="A blue and white image of a person&amp;#39;s body&#10;&#10;AI-generated content may be incorrect.">
            <a:extLst>
              <a:ext uri="{FF2B5EF4-FFF2-40B4-BE49-F238E27FC236}">
                <a16:creationId xmlns:a16="http://schemas.microsoft.com/office/drawing/2014/main" id="{D7089588-B0D6-2C37-698A-4091AFA0F0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20308" y="2761674"/>
            <a:ext cx="1399455" cy="1432037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A4BD37C-31E0-191A-313E-D156F7B69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160662"/>
              </p:ext>
            </p:extLst>
          </p:nvPr>
        </p:nvGraphicFramePr>
        <p:xfrm>
          <a:off x="4728326" y="4330675"/>
          <a:ext cx="2366330" cy="459728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690908">
                  <a:extLst>
                    <a:ext uri="{9D8B030D-6E8A-4147-A177-3AD203B41FA5}">
                      <a16:colId xmlns:a16="http://schemas.microsoft.com/office/drawing/2014/main" val="1567286842"/>
                    </a:ext>
                  </a:extLst>
                </a:gridCol>
                <a:gridCol w="676207">
                  <a:extLst>
                    <a:ext uri="{9D8B030D-6E8A-4147-A177-3AD203B41FA5}">
                      <a16:colId xmlns:a16="http://schemas.microsoft.com/office/drawing/2014/main" val="65825139"/>
                    </a:ext>
                  </a:extLst>
                </a:gridCol>
                <a:gridCol w="999215">
                  <a:extLst>
                    <a:ext uri="{9D8B030D-6E8A-4147-A177-3AD203B41FA5}">
                      <a16:colId xmlns:a16="http://schemas.microsoft.com/office/drawing/2014/main" val="3984540269"/>
                    </a:ext>
                  </a:extLst>
                </a:gridCol>
              </a:tblGrid>
              <a:tr h="209858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</a:p>
                  </a:txBody>
                  <a:tcPr marL="6344" marR="6344" marT="6344" anchor="b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44" marR="6344" marT="6344" anchor="b"/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STATIONS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44" marR="6344" marT="6344" anchor="b"/>
                </a:tc>
                <a:extLst>
                  <a:ext uri="{0D108BD9-81ED-4DB2-BD59-A6C34878D82A}">
                    <a16:rowId xmlns:a16="http://schemas.microsoft.com/office/drawing/2014/main" val="3017230420"/>
                  </a:ext>
                </a:extLst>
              </a:tr>
              <a:tr h="121071"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3.554941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44" marR="6344" marT="6344" anchor="b"/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2.903102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44" marR="6344" marT="6344" anchor="b"/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44" marR="6344" marT="6344" anchor="b"/>
                </a:tc>
                <a:extLst>
                  <a:ext uri="{0D108BD9-81ED-4DB2-BD59-A6C34878D82A}">
                    <a16:rowId xmlns:a16="http://schemas.microsoft.com/office/drawing/2014/main" val="1805133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0550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B9B71889-2642-1880-68EB-2CD7D001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ABED796E-60B4-C0DD-25D1-7BA4C8A813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818" y="316596"/>
            <a:ext cx="7969104" cy="4468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algn="ctr"/>
            <a:r>
              <a:rPr lang="fr-CA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Conclusions</a:t>
            </a:r>
            <a:endParaRPr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11918F52-FCD3-DDA2-9474-CD65B6DD6D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9142" y="835977"/>
            <a:ext cx="7585027" cy="40059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571500" indent="-342900">
              <a:buFont typeface="+mj-lt"/>
              <a:buAutoNum type="arabicPeriod"/>
            </a:pPr>
            <a:r>
              <a:rPr lang="en-US" sz="1800" dirty="0">
                <a:latin typeface="Calibri"/>
                <a:ea typeface="Calibri"/>
                <a:cs typeface="Calibri"/>
              </a:rPr>
              <a:t>GAT can perform high Fidelity air temperature and RH field  reconstruction.</a:t>
            </a:r>
          </a:p>
          <a:p>
            <a:pPr marL="571500" indent="-342900">
              <a:buFont typeface="+mj-lt"/>
              <a:buAutoNum type="arabicPeriod"/>
            </a:pPr>
            <a:r>
              <a:rPr lang="en-US" sz="1800" dirty="0">
                <a:latin typeface="Calibri"/>
                <a:ea typeface="Calibri"/>
                <a:cs typeface="Calibri"/>
              </a:rPr>
              <a:t>Capture complex urban thermal dynamics even where there are no sensors providing a continuous air temperature field helping determine cold spot and hot spots.</a:t>
            </a:r>
          </a:p>
          <a:p>
            <a:pPr marL="571500" indent="-342900">
              <a:buFont typeface="+mj-lt"/>
              <a:buAutoNum type="arabicPeriod"/>
            </a:pPr>
            <a:endParaRPr lang="en-US" sz="1800" dirty="0"/>
          </a:p>
          <a:p>
            <a:pPr marL="228600" indent="0" algn="ctr"/>
            <a:r>
              <a:rPr lang="fr-CA" sz="1800" b="1" dirty="0">
                <a:latin typeface="Calibri"/>
                <a:ea typeface="Calibri"/>
                <a:cs typeface="Calibri"/>
              </a:rPr>
              <a:t>Perspectives</a:t>
            </a:r>
          </a:p>
          <a:p>
            <a:pPr marL="571500" indent="-342900">
              <a:buFont typeface="+mj-lt"/>
              <a:buAutoNum type="arabicPeriod"/>
            </a:pPr>
            <a:r>
              <a:rPr lang="en-US" sz="1800" dirty="0">
                <a:latin typeface="Calibri"/>
                <a:ea typeface="Calibri"/>
                <a:cs typeface="Calibri"/>
              </a:rPr>
              <a:t>Our preliminary results provide actionable insights for urban planning</a:t>
            </a:r>
          </a:p>
          <a:p>
            <a:pPr marL="571500" indent="-342900">
              <a:buFont typeface="+mj-lt"/>
              <a:buAutoNum type="arabicPeriod"/>
            </a:pPr>
            <a:r>
              <a:rPr lang="en-US" sz="1800" dirty="0">
                <a:latin typeface="Calibri"/>
                <a:ea typeface="Calibri"/>
                <a:cs typeface="Calibri"/>
              </a:rPr>
              <a:t>Promising for urban heat island intensity studies in cities such as Montreal.</a:t>
            </a:r>
          </a:p>
          <a:p>
            <a:pPr marL="571500" indent="-342900">
              <a:buFont typeface="+mj-lt"/>
              <a:buAutoNum type="arabicPeriod"/>
            </a:pPr>
            <a:r>
              <a:rPr lang="en-US" sz="1800" dirty="0">
                <a:latin typeface="Calibri"/>
                <a:ea typeface="Calibri"/>
                <a:cs typeface="Calibri"/>
              </a:rPr>
              <a:t>By using air temperature fields simulated by our model; cities can more effectively address the challenges of UHI and climate change.</a:t>
            </a:r>
          </a:p>
          <a:p>
            <a:pPr marL="228600" indent="0"/>
            <a:endParaRPr lang="fr-CA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5" name="Google Shape;65;p15">
            <a:extLst>
              <a:ext uri="{FF2B5EF4-FFF2-40B4-BE49-F238E27FC236}">
                <a16:creationId xmlns:a16="http://schemas.microsoft.com/office/drawing/2014/main" id="{A0534A86-0DDE-EB8B-25DC-08C4A09DB0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64168" y="120126"/>
            <a:ext cx="908399" cy="39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Google Shape;63;p15">
            <a:extLst>
              <a:ext uri="{FF2B5EF4-FFF2-40B4-BE49-F238E27FC236}">
                <a16:creationId xmlns:a16="http://schemas.microsoft.com/office/drawing/2014/main" id="{1C4B786F-63A2-57E1-CF6F-62A84272352F}"/>
              </a:ext>
            </a:extLst>
          </p:cNvPr>
          <p:cNvCxnSpPr>
            <a:cxnSpLocks/>
          </p:cNvCxnSpPr>
          <p:nvPr/>
        </p:nvCxnSpPr>
        <p:spPr>
          <a:xfrm>
            <a:off x="207818" y="763405"/>
            <a:ext cx="8764749" cy="0"/>
          </a:xfrm>
          <a:prstGeom prst="straightConnector1">
            <a:avLst/>
          </a:prstGeom>
          <a:noFill/>
          <a:ln w="38100" cap="flat" cmpd="sng">
            <a:solidFill>
              <a:srgbClr val="DD3B4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073689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6042</TotalTime>
  <Words>478</Words>
  <Application>Microsoft Office PowerPoint</Application>
  <PresentationFormat>On-screen Show (16:9)</PresentationFormat>
  <Paragraphs>136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Context  </vt:lpstr>
      <vt:lpstr>Research Objectives</vt:lpstr>
      <vt:lpstr>Case Study- Montreal</vt:lpstr>
      <vt:lpstr>Main Results 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Didier Haillot</dc:creator>
  <cp:lastModifiedBy>Edwin O. Awino</cp:lastModifiedBy>
  <cp:revision>645</cp:revision>
  <dcterms:created xsi:type="dcterms:W3CDTF">2018-06-04T02:46:09Z</dcterms:created>
  <dcterms:modified xsi:type="dcterms:W3CDTF">2026-01-30T17:24:39Z</dcterms:modified>
</cp:coreProperties>
</file>